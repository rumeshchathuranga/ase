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bold r:id="rId21"/>
      <p:boldItalic r:id="rId22"/>
    </p:embeddedFont>
    <p:embeddedFont>
      <p:font typeface="Inter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bold.fntdata"/><Relationship Id="rId24" Type="http://schemas.openxmlformats.org/officeDocument/2006/relationships/font" Target="fonts/InterMedium-bold.fntdata"/><Relationship Id="rId23" Type="http://schemas.openxmlformats.org/officeDocument/2006/relationships/font" Target="fonts/Inter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Italic.fntdata"/><Relationship Id="rId25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3ff8b78b_34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3ff8b78b_34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b3fb47914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b3fb47914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b3fb47914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b3fb47914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b3fb47914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b3fb47914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3fb47914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3fb47914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b3fb47914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b3fb47914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b3fb47914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b3fb47914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b3fb47914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b3fb47914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b3fb47914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b3fb47914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b3fb47914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fb3fb47914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b3ff8b78b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fb3ff8b78b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3fb47914_13_0)">
  <p:cSld name="Generated (g3fb3fb47914_13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381000" y="381000"/>
            <a:ext cx="228600" cy="228600"/>
            <a:chOff x="0" y="0"/>
            <a:chExt cx="228600" cy="228600"/>
          </a:xfrm>
        </p:grpSpPr>
        <p:sp>
          <p:nvSpPr>
            <p:cNvPr id="57" name="Google Shape;57;p14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2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76200" y="76200"/>
              <a:ext cx="152400" cy="152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/>
        </p:nvSpPr>
        <p:spPr>
          <a:xfrm>
            <a:off x="666750" y="342900"/>
            <a:ext cx="809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UrbanRide Architecture Design</a:t>
            </a:r>
            <a:endParaRPr b="1" sz="24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" name="Google Shape;60;p14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4"/>
          <p:cNvSpPr txBox="1"/>
          <p:nvPr/>
        </p:nvSpPr>
        <p:spPr>
          <a:xfrm>
            <a:off x="381000" y="95250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Core Backend Architecture for a High-Scale Global Ride-Hailing Platform</a:t>
            </a:r>
            <a:endParaRPr b="0" sz="120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62" name="Google Shape;62;p14"/>
          <p:cNvGrpSpPr/>
          <p:nvPr/>
        </p:nvGrpSpPr>
        <p:grpSpPr>
          <a:xfrm>
            <a:off x="381000" y="2396925"/>
            <a:ext cx="4048200" cy="2190900"/>
            <a:chOff x="0" y="0"/>
            <a:chExt cx="4048200" cy="2190900"/>
          </a:xfrm>
        </p:grpSpPr>
        <p:sp>
          <p:nvSpPr>
            <p:cNvPr id="63" name="Google Shape;63;p14"/>
            <p:cNvSpPr/>
            <p:nvPr/>
          </p:nvSpPr>
          <p:spPr>
            <a:xfrm>
              <a:off x="0" y="0"/>
              <a:ext cx="4048200" cy="2190900"/>
            </a:xfrm>
            <a:prstGeom prst="roundRect">
              <a:avLst>
                <a:gd fmla="val 1739" name="adj"/>
              </a:avLst>
            </a:prstGeom>
            <a:solidFill>
              <a:srgbClr val="F8FAFC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0" y="0"/>
              <a:ext cx="40482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228600" y="190500"/>
              <a:ext cx="35910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Team</a:t>
              </a:r>
              <a:endParaRPr b="0" sz="8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-GB" sz="97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BANDARA L.H.M.M.D.</a:t>
              </a:r>
              <a:r>
                <a:rPr lang="en-GB">
                  <a:solidFill>
                    <a:schemeClr val="dk1"/>
                  </a:solidFill>
                </a:rPr>
                <a:t> </a:t>
              </a:r>
              <a:r>
                <a:rPr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– 230078B</a:t>
              </a:r>
              <a:endParaRPr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97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BEDDAWALA B.G.K.P.</a:t>
              </a:r>
              <a:r>
                <a:rPr lang="en-GB"/>
                <a:t> </a:t>
              </a: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– 230089J</a:t>
              </a:r>
              <a:endParaRPr/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97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BHAGYA T.G.N.</a:t>
              </a:r>
              <a:r>
                <a:rPr lang="en-GB"/>
                <a:t> </a:t>
              </a: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– 230090E</a:t>
              </a:r>
              <a:endParaRPr/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97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CHATHURANGA R.M.R.</a:t>
              </a:r>
              <a:r>
                <a:rPr lang="en-GB"/>
                <a:t> </a:t>
              </a: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– 230104E</a:t>
              </a:r>
              <a:endParaRPr/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GB" sz="97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DEWDUNIKA D.R.K.W.M.V.V.</a:t>
              </a:r>
              <a:r>
                <a:rPr lang="en-GB"/>
                <a:t> </a:t>
              </a: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– 230135A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71" name="Google Shape;71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2" name="Google Shape;7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" name="Google Shape;73;p15"/>
          <p:cNvGrpSpPr/>
          <p:nvPr/>
        </p:nvGrpSpPr>
        <p:grpSpPr>
          <a:xfrm>
            <a:off x="381000" y="381000"/>
            <a:ext cx="228600" cy="228600"/>
            <a:chOff x="0" y="0"/>
            <a:chExt cx="228600" cy="228600"/>
          </a:xfrm>
        </p:grpSpPr>
        <p:sp>
          <p:nvSpPr>
            <p:cNvPr id="74" name="Google Shape;74;p15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2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76200" y="76200"/>
              <a:ext cx="152400" cy="152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5"/>
          <p:cNvSpPr txBox="1"/>
          <p:nvPr/>
        </p:nvSpPr>
        <p:spPr>
          <a:xfrm>
            <a:off x="666750" y="342900"/>
            <a:ext cx="809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UrbanRide's architecture meets strict scale, latency, and cost targets.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8" name="Google Shape;78;p15"/>
          <p:cNvGrpSpPr/>
          <p:nvPr/>
        </p:nvGrpSpPr>
        <p:grpSpPr>
          <a:xfrm>
            <a:off x="381000" y="1285875"/>
            <a:ext cx="8382150" cy="2819400"/>
            <a:chOff x="0" y="0"/>
            <a:chExt cx="8382150" cy="2819400"/>
          </a:xfrm>
        </p:grpSpPr>
        <p:grpSp>
          <p:nvGrpSpPr>
            <p:cNvPr id="79" name="Google Shape;79;p15"/>
            <p:cNvGrpSpPr/>
            <p:nvPr/>
          </p:nvGrpSpPr>
          <p:grpSpPr>
            <a:xfrm>
              <a:off x="0" y="0"/>
              <a:ext cx="2571900" cy="1524000"/>
              <a:chOff x="0" y="0"/>
              <a:chExt cx="2571900" cy="1524000"/>
            </a:xfrm>
          </p:grpSpPr>
          <p:sp>
            <p:nvSpPr>
              <p:cNvPr id="80" name="Google Shape;80;p15"/>
              <p:cNvSpPr/>
              <p:nvPr/>
            </p:nvSpPr>
            <p:spPr>
              <a:xfrm>
                <a:off x="0" y="0"/>
                <a:ext cx="2571900" cy="381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15"/>
              <p:cNvSpPr txBox="1"/>
              <p:nvPr/>
            </p:nvSpPr>
            <p:spPr>
              <a:xfrm>
                <a:off x="0" y="190500"/>
                <a:ext cx="25719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2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Volume Target</a:t>
                </a:r>
                <a:endParaRPr b="0" sz="8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GB" sz="28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1,000,000</a:t>
                </a:r>
                <a:endParaRPr b="1" sz="28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7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Completed rides per day</a:t>
                </a:r>
                <a:endParaRPr b="0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2" name="Google Shape;82;p15"/>
            <p:cNvGrpSpPr/>
            <p:nvPr/>
          </p:nvGrpSpPr>
          <p:grpSpPr>
            <a:xfrm>
              <a:off x="2905125" y="0"/>
              <a:ext cx="2571900" cy="1524000"/>
              <a:chOff x="0" y="0"/>
              <a:chExt cx="2571900" cy="1524000"/>
            </a:xfrm>
          </p:grpSpPr>
          <p:sp>
            <p:nvSpPr>
              <p:cNvPr id="83" name="Google Shape;83;p15"/>
              <p:cNvSpPr/>
              <p:nvPr/>
            </p:nvSpPr>
            <p:spPr>
              <a:xfrm>
                <a:off x="0" y="0"/>
                <a:ext cx="2571900" cy="381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15"/>
              <p:cNvSpPr txBox="1"/>
              <p:nvPr/>
            </p:nvSpPr>
            <p:spPr>
              <a:xfrm>
                <a:off x="0" y="190500"/>
                <a:ext cx="25719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2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Speed Target</a:t>
                </a:r>
                <a:endParaRPr b="0" sz="8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GB" sz="28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&lt; 500 ms</a:t>
                </a:r>
                <a:endParaRPr b="1" sz="28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7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Transaction latency</a:t>
                </a:r>
                <a:endParaRPr b="0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5" name="Google Shape;85;p15"/>
            <p:cNvGrpSpPr/>
            <p:nvPr/>
          </p:nvGrpSpPr>
          <p:grpSpPr>
            <a:xfrm>
              <a:off x="5810250" y="0"/>
              <a:ext cx="2571900" cy="1524000"/>
              <a:chOff x="0" y="0"/>
              <a:chExt cx="2571900" cy="1524000"/>
            </a:xfrm>
          </p:grpSpPr>
          <p:sp>
            <p:nvSpPr>
              <p:cNvPr id="86" name="Google Shape;86;p15"/>
              <p:cNvSpPr/>
              <p:nvPr/>
            </p:nvSpPr>
            <p:spPr>
              <a:xfrm>
                <a:off x="0" y="0"/>
                <a:ext cx="2571900" cy="381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5"/>
              <p:cNvSpPr txBox="1"/>
              <p:nvPr/>
            </p:nvSpPr>
            <p:spPr>
              <a:xfrm>
                <a:off x="0" y="190500"/>
                <a:ext cx="2571900" cy="1333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2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Economy Target</a:t>
                </a:r>
                <a:endParaRPr b="0" sz="8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GB" sz="285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&lt; 10 LKR</a:t>
                </a:r>
                <a:endParaRPr b="1" sz="28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7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Cost per completed ride</a:t>
                </a:r>
                <a:endParaRPr b="0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8" name="Google Shape;88;p15"/>
            <p:cNvGrpSpPr/>
            <p:nvPr/>
          </p:nvGrpSpPr>
          <p:grpSpPr>
            <a:xfrm>
              <a:off x="0" y="1905000"/>
              <a:ext cx="8382000" cy="914400"/>
              <a:chOff x="0" y="0"/>
              <a:chExt cx="8382000" cy="914400"/>
            </a:xfrm>
          </p:grpSpPr>
          <p:sp>
            <p:nvSpPr>
              <p:cNvPr id="89" name="Google Shape;89;p15"/>
              <p:cNvSpPr/>
              <p:nvPr/>
            </p:nvSpPr>
            <p:spPr>
              <a:xfrm>
                <a:off x="0" y="0"/>
                <a:ext cx="38100" cy="9144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38100" y="0"/>
                <a:ext cx="8343900" cy="9144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5"/>
              <p:cNvSpPr txBox="1"/>
              <p:nvPr/>
            </p:nvSpPr>
            <p:spPr>
              <a:xfrm>
                <a:off x="266700" y="190500"/>
                <a:ext cx="78867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82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Resilience Architecture</a:t>
                </a:r>
                <a:endParaRPr b="0" sz="8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10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Surge Capacity:</a:t>
                </a:r>
                <a:r>
                  <a:rPr b="0" lang="en-GB" sz="10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 </a:t>
                </a:r>
                <a:r>
                  <a:rPr lang="en-GB" sz="105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System designed to absorb up to a 5× traffic surge while maintaining the target transaction latency.</a:t>
                </a:r>
                <a:endParaRPr b="0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97" name="Google Shape;97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8" name="Google Shape;9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9" name="Google Shape;99;p16"/>
          <p:cNvGrpSpPr/>
          <p:nvPr/>
        </p:nvGrpSpPr>
        <p:grpSpPr>
          <a:xfrm>
            <a:off x="381000" y="381000"/>
            <a:ext cx="228600" cy="228600"/>
            <a:chOff x="0" y="0"/>
            <a:chExt cx="228600" cy="228600"/>
          </a:xfrm>
        </p:grpSpPr>
        <p:sp>
          <p:nvSpPr>
            <p:cNvPr id="100" name="Google Shape;100;p16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2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76200" y="76200"/>
              <a:ext cx="152400" cy="152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666750" y="342900"/>
            <a:ext cx="809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Ingestion Scale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3" name="Google Shape;103;p16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16"/>
          <p:cNvSpPr txBox="1"/>
          <p:nvPr/>
        </p:nvSpPr>
        <p:spPr>
          <a:xfrm>
            <a:off x="381000" y="1000125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0" lang="en-GB" sz="105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Designed for massive daily volume and high-frequency GPS ingestion.</a:t>
            </a:r>
            <a:endParaRPr b="0" sz="1050">
              <a:solidFill>
                <a:srgbClr val="47556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05" name="Google Shape;105;p16"/>
          <p:cNvGrpSpPr/>
          <p:nvPr/>
        </p:nvGrpSpPr>
        <p:grpSpPr>
          <a:xfrm>
            <a:off x="381000" y="1381125"/>
            <a:ext cx="4048200" cy="2286000"/>
            <a:chOff x="0" y="0"/>
            <a:chExt cx="4048200" cy="2286000"/>
          </a:xfrm>
        </p:grpSpPr>
        <p:sp>
          <p:nvSpPr>
            <p:cNvPr id="106" name="Google Shape;106;p16"/>
            <p:cNvSpPr/>
            <p:nvPr/>
          </p:nvSpPr>
          <p:spPr>
            <a:xfrm>
              <a:off x="0" y="0"/>
              <a:ext cx="4048200" cy="2286000"/>
            </a:xfrm>
            <a:prstGeom prst="roundRect">
              <a:avLst>
                <a:gd fmla="val 1666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0" y="0"/>
              <a:ext cx="4048200" cy="38100"/>
            </a:xfrm>
            <a:prstGeom prst="roundRect">
              <a:avLst>
                <a:gd fmla="val 50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6"/>
            <p:cNvSpPr txBox="1"/>
            <p:nvPr/>
          </p:nvSpPr>
          <p:spPr>
            <a:xfrm>
              <a:off x="228600" y="190500"/>
              <a:ext cx="3591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475569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Transactional Ingestion</a:t>
              </a:r>
              <a:endParaRPr b="0" sz="75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Low-Frequency Ride Requests</a:t>
              </a:r>
              <a:endParaRPr b="0" sz="10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27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~60 </a:t>
              </a:r>
              <a:r>
                <a:rPr b="0" lang="en-GB" sz="135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req/s</a:t>
              </a:r>
              <a:endParaRPr b="1" sz="27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Peak Volume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Average Ingestion:</a:t>
              </a:r>
              <a:r>
                <a:rPr b="0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~12 req/s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Standard transactional load managed via REST endpoints.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9" name="Google Shape;109;p16"/>
          <p:cNvGrpSpPr/>
          <p:nvPr/>
        </p:nvGrpSpPr>
        <p:grpSpPr>
          <a:xfrm>
            <a:off x="4714875" y="1381125"/>
            <a:ext cx="4048200" cy="2286000"/>
            <a:chOff x="0" y="0"/>
            <a:chExt cx="4048200" cy="2286000"/>
          </a:xfrm>
        </p:grpSpPr>
        <p:sp>
          <p:nvSpPr>
            <p:cNvPr id="110" name="Google Shape;110;p16"/>
            <p:cNvSpPr/>
            <p:nvPr/>
          </p:nvSpPr>
          <p:spPr>
            <a:xfrm>
              <a:off x="0" y="0"/>
              <a:ext cx="4048200" cy="2286000"/>
            </a:xfrm>
            <a:prstGeom prst="roundRect">
              <a:avLst>
                <a:gd fmla="val 1666" name="adj"/>
              </a:avLst>
            </a:prstGeom>
            <a:solidFill>
              <a:srgbClr val="F8FAFC"/>
            </a:solidFill>
            <a:ln cap="flat" cmpd="sng" w="9525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0" y="0"/>
              <a:ext cx="4048200" cy="381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228600" y="190500"/>
              <a:ext cx="3591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Streaming Ingestion</a:t>
              </a:r>
              <a:endParaRPr b="0" sz="7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050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High-Frequency Driver Telemetry</a:t>
              </a:r>
              <a:endParaRPr b="0" sz="105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27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~37,500 </a:t>
              </a:r>
              <a:r>
                <a:rPr b="0" lang="en-GB" sz="1350">
                  <a:solidFill>
                    <a:srgbClr val="2563E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pings/s</a:t>
              </a:r>
              <a:endParaRPr b="1" sz="27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Telemetry Ingestion Rate</a:t>
              </a: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(4-second intervals)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Active Fleet at Peak:</a:t>
              </a:r>
              <a:r>
                <a:rPr b="0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150,000 drivers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Continuous state stream ingested directly into persistent queues.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381000" y="3857625"/>
            <a:ext cx="8382000" cy="809700"/>
            <a:chOff x="0" y="0"/>
            <a:chExt cx="8382000" cy="809700"/>
          </a:xfrm>
        </p:grpSpPr>
        <p:sp>
          <p:nvSpPr>
            <p:cNvPr id="114" name="Google Shape;114;p16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38100" y="0"/>
              <a:ext cx="8343900" cy="8097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228600" y="152400"/>
              <a:ext cx="7962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Architectural Impact: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Telemetry volume exceeds transactional ride request volume by over </a:t>
              </a:r>
              <a:r>
                <a:rPr b="1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600x</a:t>
              </a: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at peak. The stream ingestion pipeline is specifically optimized for high-throughput, low-latency GPS write workloads independent of core booking services.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22" name="Google Shape;122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3" name="Google Shape;12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4" name="Google Shape;124;p17"/>
          <p:cNvGrpSpPr/>
          <p:nvPr/>
        </p:nvGrpSpPr>
        <p:grpSpPr>
          <a:xfrm>
            <a:off x="381000" y="247650"/>
            <a:ext cx="8382000" cy="561975"/>
            <a:chOff x="381000" y="247650"/>
            <a:chExt cx="8382000" cy="561975"/>
          </a:xfrm>
        </p:grpSpPr>
        <p:grpSp>
          <p:nvGrpSpPr>
            <p:cNvPr id="125" name="Google Shape;125;p17"/>
            <p:cNvGrpSpPr/>
            <p:nvPr/>
          </p:nvGrpSpPr>
          <p:grpSpPr>
            <a:xfrm>
              <a:off x="381000" y="342900"/>
              <a:ext cx="228600" cy="228600"/>
              <a:chOff x="0" y="0"/>
              <a:chExt cx="228600" cy="228600"/>
            </a:xfrm>
          </p:grpSpPr>
          <p:sp>
            <p:nvSpPr>
              <p:cNvPr id="126" name="Google Shape;126;p17"/>
              <p:cNvSpPr/>
              <p:nvPr/>
            </p:nvSpPr>
            <p:spPr>
              <a:xfrm>
                <a:off x="0" y="0"/>
                <a:ext cx="152400" cy="152400"/>
              </a:xfrm>
              <a:prstGeom prst="roundRect">
                <a:avLst>
                  <a:gd fmla="val 25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7"/>
              <p:cNvSpPr/>
              <p:nvPr/>
            </p:nvSpPr>
            <p:spPr>
              <a:xfrm>
                <a:off x="76200" y="76200"/>
                <a:ext cx="152400" cy="1524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8" name="Google Shape;128;p17"/>
            <p:cNvSpPr txBox="1"/>
            <p:nvPr/>
          </p:nvSpPr>
          <p:spPr>
            <a:xfrm>
              <a:off x="723900" y="247650"/>
              <a:ext cx="8039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Strict database-per-service isolation optimizes for specific workload and CAP requirements.</a:t>
              </a:r>
              <a:endParaRPr b="1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29" name="Google Shape;129;p17"/>
            <p:cNvCxnSpPr/>
            <p:nvPr/>
          </p:nvCxnSpPr>
          <p:spPr>
            <a:xfrm>
              <a:off x="381000" y="80962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30" name="Google Shape;130;p17"/>
          <p:cNvGrpSpPr/>
          <p:nvPr/>
        </p:nvGrpSpPr>
        <p:grpSpPr>
          <a:xfrm>
            <a:off x="381000" y="1000125"/>
            <a:ext cx="8382000" cy="3772050"/>
            <a:chOff x="0" y="0"/>
            <a:chExt cx="8382000" cy="3772050"/>
          </a:xfrm>
        </p:grpSpPr>
        <p:grpSp>
          <p:nvGrpSpPr>
            <p:cNvPr id="131" name="Google Shape;131;p17"/>
            <p:cNvGrpSpPr/>
            <p:nvPr/>
          </p:nvGrpSpPr>
          <p:grpSpPr>
            <a:xfrm>
              <a:off x="0" y="0"/>
              <a:ext cx="8382000" cy="857400"/>
              <a:chOff x="0" y="0"/>
              <a:chExt cx="8382000" cy="857400"/>
            </a:xfrm>
          </p:grpSpPr>
          <p:sp>
            <p:nvSpPr>
              <p:cNvPr id="132" name="Google Shape;132;p17"/>
              <p:cNvSpPr/>
              <p:nvPr/>
            </p:nvSpPr>
            <p:spPr>
              <a:xfrm>
                <a:off x="0" y="0"/>
                <a:ext cx="8382000" cy="857400"/>
              </a:xfrm>
              <a:prstGeom prst="roundRect">
                <a:avLst>
                  <a:gd fmla="val 666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33" name="Google Shape;133;p17"/>
              <p:cNvGrpSpPr/>
              <p:nvPr/>
            </p:nvGrpSpPr>
            <p:grpSpPr>
              <a:xfrm>
                <a:off x="228600" y="276225"/>
                <a:ext cx="304800" cy="304800"/>
                <a:chOff x="0" y="0"/>
                <a:chExt cx="304800" cy="304800"/>
              </a:xfrm>
            </p:grpSpPr>
            <p:sp>
              <p:nvSpPr>
                <p:cNvPr id="134" name="Google Shape;134;p17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" name="Google Shape;135;p17"/>
                <p:cNvSpPr/>
                <p:nvPr/>
              </p:nvSpPr>
              <p:spPr>
                <a:xfrm>
                  <a:off x="76200" y="76200"/>
                  <a:ext cx="152400" cy="1524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000000">
                    <a:alpha val="0"/>
                  </a:srgbClr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36" name="Google Shape;136;p17"/>
                <p:cNvCxnSpPr/>
                <p:nvPr/>
              </p:nvCxnSpPr>
              <p:spPr>
                <a:xfrm>
                  <a:off x="76200" y="123825"/>
                  <a:ext cx="1524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7" name="Google Shape;137;p17"/>
                <p:cNvCxnSpPr/>
                <p:nvPr/>
              </p:nvCxnSpPr>
              <p:spPr>
                <a:xfrm>
                  <a:off x="76200" y="171450"/>
                  <a:ext cx="1524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38" name="Google Shape;138;p17"/>
              <p:cNvSpPr txBox="1"/>
              <p:nvPr/>
            </p:nvSpPr>
            <p:spPr>
              <a:xfrm>
                <a:off x="685800" y="152400"/>
                <a:ext cx="5524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Service Domain</a:t>
                </a:r>
                <a:endParaRPr b="0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Trip &amp; Billing</a:t>
                </a:r>
                <a:endParaRPr b="1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Aurora PostgreSQL</a:t>
                </a:r>
                <a:endParaRPr b="0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39" name="Google Shape;139;p17"/>
              <p:cNvSpPr txBox="1"/>
              <p:nvPr/>
            </p:nvSpPr>
            <p:spPr>
              <a:xfrm>
                <a:off x="6286500" y="152400"/>
                <a:ext cx="18669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25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CAP Stance: CP</a:t>
                </a:r>
                <a:endParaRPr/>
              </a:p>
              <a:p>
                <a:pPr indent="0" lvl="0" marL="0" rtl="0" algn="r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Financial consistency focus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0" name="Google Shape;140;p17"/>
            <p:cNvGrpSpPr/>
            <p:nvPr/>
          </p:nvGrpSpPr>
          <p:grpSpPr>
            <a:xfrm>
              <a:off x="0" y="971550"/>
              <a:ext cx="8382000" cy="857400"/>
              <a:chOff x="0" y="0"/>
              <a:chExt cx="8382000" cy="857400"/>
            </a:xfrm>
          </p:grpSpPr>
          <p:sp>
            <p:nvSpPr>
              <p:cNvPr id="141" name="Google Shape;141;p17"/>
              <p:cNvSpPr/>
              <p:nvPr/>
            </p:nvSpPr>
            <p:spPr>
              <a:xfrm>
                <a:off x="0" y="0"/>
                <a:ext cx="8382000" cy="857400"/>
              </a:xfrm>
              <a:prstGeom prst="roundRect">
                <a:avLst>
                  <a:gd fmla="val 666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42" name="Google Shape;142;p17"/>
              <p:cNvGrpSpPr/>
              <p:nvPr/>
            </p:nvGrpSpPr>
            <p:grpSpPr>
              <a:xfrm>
                <a:off x="228600" y="276225"/>
                <a:ext cx="304800" cy="304800"/>
                <a:chOff x="0" y="0"/>
                <a:chExt cx="304800" cy="304800"/>
              </a:xfrm>
            </p:grpSpPr>
            <p:sp>
              <p:nvSpPr>
                <p:cNvPr id="143" name="Google Shape;143;p17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4" name="Google Shape;144;p17"/>
                <p:cNvSpPr/>
                <p:nvPr/>
              </p:nvSpPr>
              <p:spPr>
                <a:xfrm>
                  <a:off x="76200" y="76200"/>
                  <a:ext cx="152400" cy="1524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000000">
                    <a:alpha val="0"/>
                  </a:srgbClr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45" name="Google Shape;145;p17"/>
                <p:cNvCxnSpPr/>
                <p:nvPr/>
              </p:nvCxnSpPr>
              <p:spPr>
                <a:xfrm>
                  <a:off x="76200" y="123825"/>
                  <a:ext cx="1524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6" name="Google Shape;146;p17"/>
                <p:cNvCxnSpPr/>
                <p:nvPr/>
              </p:nvCxnSpPr>
              <p:spPr>
                <a:xfrm>
                  <a:off x="76200" y="171450"/>
                  <a:ext cx="1524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47" name="Google Shape;147;p17"/>
              <p:cNvSpPr txBox="1"/>
              <p:nvPr/>
            </p:nvSpPr>
            <p:spPr>
              <a:xfrm>
                <a:off x="685800" y="152400"/>
                <a:ext cx="5524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Service Domain</a:t>
                </a:r>
                <a:endParaRPr b="0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Location Ingestion</a:t>
                </a:r>
                <a:endParaRPr b="1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Kafka + S3</a:t>
                </a:r>
                <a:endParaRPr b="0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48" name="Google Shape;148;p17"/>
              <p:cNvSpPr txBox="1"/>
              <p:nvPr/>
            </p:nvSpPr>
            <p:spPr>
              <a:xfrm>
                <a:off x="6286500" y="152400"/>
                <a:ext cx="1866900" cy="552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25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CAP Stance: AP</a:t>
                </a:r>
                <a:endParaRPr b="1" i="0" sz="8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r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i="0" lang="en-GB" sz="900" u="none" strike="noStrik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High-throughput buffering</a:t>
                </a:r>
                <a:endParaRPr b="1" i="0" sz="8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49" name="Google Shape;149;p17"/>
            <p:cNvGrpSpPr/>
            <p:nvPr/>
          </p:nvGrpSpPr>
          <p:grpSpPr>
            <a:xfrm>
              <a:off x="0" y="1943100"/>
              <a:ext cx="8382000" cy="857400"/>
              <a:chOff x="0" y="0"/>
              <a:chExt cx="8382000" cy="857400"/>
            </a:xfrm>
          </p:grpSpPr>
          <p:sp>
            <p:nvSpPr>
              <p:cNvPr id="150" name="Google Shape;150;p17"/>
              <p:cNvSpPr/>
              <p:nvPr/>
            </p:nvSpPr>
            <p:spPr>
              <a:xfrm>
                <a:off x="0" y="0"/>
                <a:ext cx="8382000" cy="857400"/>
              </a:xfrm>
              <a:prstGeom prst="roundRect">
                <a:avLst>
                  <a:gd fmla="val 666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1" name="Google Shape;151;p17"/>
              <p:cNvGrpSpPr/>
              <p:nvPr/>
            </p:nvGrpSpPr>
            <p:grpSpPr>
              <a:xfrm>
                <a:off x="228600" y="276225"/>
                <a:ext cx="304800" cy="304800"/>
                <a:chOff x="0" y="0"/>
                <a:chExt cx="304800" cy="304800"/>
              </a:xfrm>
            </p:grpSpPr>
            <p:sp>
              <p:nvSpPr>
                <p:cNvPr id="152" name="Google Shape;152;p17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17"/>
                <p:cNvSpPr/>
                <p:nvPr/>
              </p:nvSpPr>
              <p:spPr>
                <a:xfrm>
                  <a:off x="76200" y="76200"/>
                  <a:ext cx="152400" cy="1524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000000">
                    <a:alpha val="0"/>
                  </a:srgbClr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54" name="Google Shape;154;p17"/>
                <p:cNvCxnSpPr/>
                <p:nvPr/>
              </p:nvCxnSpPr>
              <p:spPr>
                <a:xfrm>
                  <a:off x="76200" y="123825"/>
                  <a:ext cx="1524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5" name="Google Shape;155;p17"/>
                <p:cNvCxnSpPr/>
                <p:nvPr/>
              </p:nvCxnSpPr>
              <p:spPr>
                <a:xfrm>
                  <a:off x="76200" y="171450"/>
                  <a:ext cx="1524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56" name="Google Shape;156;p17"/>
              <p:cNvSpPr txBox="1"/>
              <p:nvPr/>
            </p:nvSpPr>
            <p:spPr>
              <a:xfrm>
                <a:off x="685800" y="152400"/>
                <a:ext cx="5524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Service Domain</a:t>
                </a:r>
                <a:endParaRPr b="0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Matching</a:t>
                </a:r>
                <a:endParaRPr b="1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Redis Geo</a:t>
                </a:r>
                <a:endParaRPr b="0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57" name="Google Shape;157;p17"/>
              <p:cNvSpPr txBox="1"/>
              <p:nvPr/>
            </p:nvSpPr>
            <p:spPr>
              <a:xfrm>
                <a:off x="6286500" y="152400"/>
                <a:ext cx="1866900" cy="552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25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CAP Stance: AP</a:t>
                </a:r>
                <a:endParaRPr b="1" i="0" sz="8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r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i="0" lang="en-GB" sz="900" u="none" strike="noStrik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Low-latency indexing</a:t>
                </a:r>
                <a:endParaRPr b="1" i="0" sz="8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58" name="Google Shape;158;p17"/>
            <p:cNvGrpSpPr/>
            <p:nvPr/>
          </p:nvGrpSpPr>
          <p:grpSpPr>
            <a:xfrm>
              <a:off x="0" y="2914650"/>
              <a:ext cx="8382000" cy="857400"/>
              <a:chOff x="0" y="0"/>
              <a:chExt cx="8382000" cy="857400"/>
            </a:xfrm>
          </p:grpSpPr>
          <p:sp>
            <p:nvSpPr>
              <p:cNvPr id="159" name="Google Shape;159;p17"/>
              <p:cNvSpPr/>
              <p:nvPr/>
            </p:nvSpPr>
            <p:spPr>
              <a:xfrm>
                <a:off x="0" y="0"/>
                <a:ext cx="8382000" cy="857400"/>
              </a:xfrm>
              <a:prstGeom prst="roundRect">
                <a:avLst>
                  <a:gd fmla="val 666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60" name="Google Shape;160;p17"/>
              <p:cNvGrpSpPr/>
              <p:nvPr/>
            </p:nvGrpSpPr>
            <p:grpSpPr>
              <a:xfrm>
                <a:off x="228600" y="276225"/>
                <a:ext cx="304800" cy="304800"/>
                <a:chOff x="0" y="0"/>
                <a:chExt cx="304800" cy="304800"/>
              </a:xfrm>
            </p:grpSpPr>
            <p:sp>
              <p:nvSpPr>
                <p:cNvPr id="161" name="Google Shape;161;p17"/>
                <p:cNvSpPr/>
                <p:nvPr/>
              </p:nvSpPr>
              <p:spPr>
                <a:xfrm>
                  <a:off x="0" y="0"/>
                  <a:ext cx="304800" cy="304800"/>
                </a:xfrm>
                <a:prstGeom prst="roundRect">
                  <a:avLst>
                    <a:gd fmla="val 1875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76200" y="76200"/>
                  <a:ext cx="152400" cy="152400"/>
                </a:xfrm>
                <a:prstGeom prst="roundRect">
                  <a:avLst>
                    <a:gd fmla="val 12500" name="adj"/>
                  </a:avLst>
                </a:prstGeom>
                <a:solidFill>
                  <a:srgbClr val="000000">
                    <a:alpha val="0"/>
                  </a:srgbClr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63" name="Google Shape;163;p17"/>
                <p:cNvCxnSpPr/>
                <p:nvPr/>
              </p:nvCxnSpPr>
              <p:spPr>
                <a:xfrm>
                  <a:off x="76200" y="123825"/>
                  <a:ext cx="1524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4" name="Google Shape;164;p17"/>
                <p:cNvCxnSpPr/>
                <p:nvPr/>
              </p:nvCxnSpPr>
              <p:spPr>
                <a:xfrm>
                  <a:off x="76200" y="171450"/>
                  <a:ext cx="1524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65" name="Google Shape;165;p17"/>
              <p:cNvSpPr txBox="1"/>
              <p:nvPr/>
            </p:nvSpPr>
            <p:spPr>
              <a:xfrm>
                <a:off x="685800" y="152400"/>
                <a:ext cx="55245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Service Domain</a:t>
                </a:r>
                <a:endParaRPr b="0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GB" sz="12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Pricing</a:t>
                </a:r>
                <a:endParaRPr b="1" sz="12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75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DynamoDB</a:t>
                </a:r>
                <a:endParaRPr b="0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166" name="Google Shape;166;p17"/>
              <p:cNvSpPr txBox="1"/>
              <p:nvPr/>
            </p:nvSpPr>
            <p:spPr>
              <a:xfrm>
                <a:off x="6286500" y="152400"/>
                <a:ext cx="1866900" cy="552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825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CAP Stance: AP</a:t>
                </a:r>
                <a:endParaRPr b="1" i="0" sz="8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r">
                  <a:spcBef>
                    <a:spcPts val="450"/>
                  </a:spcBef>
                  <a:spcAft>
                    <a:spcPts val="450"/>
                  </a:spcAft>
                  <a:buNone/>
                </a:pPr>
                <a:r>
                  <a:rPr b="0" i="0" lang="en-GB" sz="900" u="none" strike="noStrike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Fast multiplier lookups</a:t>
                </a:r>
                <a:endParaRPr b="1" i="0" sz="825" u="none" strike="noStrike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72" name="Google Shape;172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3" name="Google Shape;17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" name="Google Shape;174;p18"/>
          <p:cNvGrpSpPr/>
          <p:nvPr/>
        </p:nvGrpSpPr>
        <p:grpSpPr>
          <a:xfrm>
            <a:off x="381000" y="381000"/>
            <a:ext cx="228600" cy="228600"/>
            <a:chOff x="0" y="0"/>
            <a:chExt cx="228600" cy="228600"/>
          </a:xfrm>
        </p:grpSpPr>
        <p:sp>
          <p:nvSpPr>
            <p:cNvPr id="175" name="Google Shape;175;p18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2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76200" y="76200"/>
              <a:ext cx="152400" cy="152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18"/>
          <p:cNvSpPr txBox="1"/>
          <p:nvPr/>
        </p:nvSpPr>
        <p:spPr>
          <a:xfrm>
            <a:off x="666750" y="342900"/>
            <a:ext cx="809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88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Five core services and two supporting services separate high-throughput ingestion from transactional workflows.</a:t>
            </a:r>
            <a:endParaRPr b="1" sz="1388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78" name="Google Shape;178;p18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18"/>
          <p:cNvCxnSpPr/>
          <p:nvPr/>
        </p:nvCxnSpPr>
        <p:spPr>
          <a:xfrm>
            <a:off x="4572000" y="1047750"/>
            <a:ext cx="0" cy="37149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0" name="Google Shape;180;p18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381000" y="1047750"/>
            <a:ext cx="3952800" cy="2800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8"/>
          <p:cNvGrpSpPr/>
          <p:nvPr/>
        </p:nvGrpSpPr>
        <p:grpSpPr>
          <a:xfrm>
            <a:off x="4857750" y="1047750"/>
            <a:ext cx="3905400" cy="809700"/>
            <a:chOff x="0" y="0"/>
            <a:chExt cx="3905400" cy="809700"/>
          </a:xfrm>
        </p:grpSpPr>
        <p:sp>
          <p:nvSpPr>
            <p:cNvPr id="182" name="Google Shape;182;p18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/>
            <p:nvPr/>
          </p:nvSpPr>
          <p:spPr>
            <a:xfrm>
              <a:off x="38100" y="0"/>
              <a:ext cx="3867300" cy="8097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190500" y="114300"/>
              <a:ext cx="3562200" cy="58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Boundary Principle</a:t>
              </a:r>
              <a:endParaRPr b="0" sz="7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Split driven by the </a:t>
              </a: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625× gap</a:t>
              </a:r>
              <a:r>
                <a:rPr b="0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between GPS ingestion and ride requests.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5" name="Google Shape;185;p18"/>
          <p:cNvSpPr txBox="1"/>
          <p:nvPr/>
        </p:nvSpPr>
        <p:spPr>
          <a:xfrm>
            <a:off x="4857750" y="1990725"/>
            <a:ext cx="3905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0" lang="en-GB" sz="7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Services</a:t>
            </a:r>
            <a:endParaRPr b="0" sz="75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86" name="Google Shape;186;p18"/>
          <p:cNvGrpSpPr/>
          <p:nvPr/>
        </p:nvGrpSpPr>
        <p:grpSpPr>
          <a:xfrm>
            <a:off x="4876800" y="2236854"/>
            <a:ext cx="3886350" cy="1619400"/>
            <a:chOff x="19050" y="29308"/>
            <a:chExt cx="3886350" cy="1619400"/>
          </a:xfrm>
        </p:grpSpPr>
        <p:grpSp>
          <p:nvGrpSpPr>
            <p:cNvPr id="187" name="Google Shape;187;p18"/>
            <p:cNvGrpSpPr/>
            <p:nvPr/>
          </p:nvGrpSpPr>
          <p:grpSpPr>
            <a:xfrm>
              <a:off x="19050" y="38100"/>
              <a:ext cx="114300" cy="114300"/>
              <a:chOff x="19050" y="19050"/>
              <a:chExt cx="114300" cy="114300"/>
            </a:xfrm>
          </p:grpSpPr>
          <p:sp>
            <p:nvSpPr>
              <p:cNvPr id="188" name="Google Shape;188;p18"/>
              <p:cNvSpPr/>
              <p:nvPr/>
            </p:nvSpPr>
            <p:spPr>
              <a:xfrm>
                <a:off x="19050" y="19050"/>
                <a:ext cx="1143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89" name="Google Shape;189;p18"/>
              <p:cNvCxnSpPr/>
              <p:nvPr/>
            </p:nvCxnSpPr>
            <p:spPr>
              <a:xfrm>
                <a:off x="1905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0" name="Google Shape;190;p18"/>
              <p:cNvCxnSpPr/>
              <p:nvPr/>
            </p:nvCxnSpPr>
            <p:spPr>
              <a:xfrm>
                <a:off x="19050" y="952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91" name="Google Shape;191;p18"/>
            <p:cNvSpPr txBox="1"/>
            <p:nvPr/>
          </p:nvSpPr>
          <p:spPr>
            <a:xfrm>
              <a:off x="228600" y="29308"/>
              <a:ext cx="367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Trip Management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2" name="Google Shape;192;p18"/>
            <p:cNvGrpSpPr/>
            <p:nvPr/>
          </p:nvGrpSpPr>
          <p:grpSpPr>
            <a:xfrm>
              <a:off x="19050" y="371475"/>
              <a:ext cx="114300" cy="114300"/>
              <a:chOff x="19050" y="19050"/>
              <a:chExt cx="114300" cy="114300"/>
            </a:xfrm>
          </p:grpSpPr>
          <p:sp>
            <p:nvSpPr>
              <p:cNvPr id="193" name="Google Shape;193;p18"/>
              <p:cNvSpPr/>
              <p:nvPr/>
            </p:nvSpPr>
            <p:spPr>
              <a:xfrm>
                <a:off x="19050" y="19050"/>
                <a:ext cx="1143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4" name="Google Shape;194;p18"/>
              <p:cNvCxnSpPr/>
              <p:nvPr/>
            </p:nvCxnSpPr>
            <p:spPr>
              <a:xfrm>
                <a:off x="1905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5" name="Google Shape;195;p18"/>
              <p:cNvCxnSpPr/>
              <p:nvPr/>
            </p:nvCxnSpPr>
            <p:spPr>
              <a:xfrm>
                <a:off x="19050" y="952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96" name="Google Shape;196;p18"/>
            <p:cNvSpPr txBox="1"/>
            <p:nvPr/>
          </p:nvSpPr>
          <p:spPr>
            <a:xfrm>
              <a:off x="228600" y="362683"/>
              <a:ext cx="367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Driver Location Ingestion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7" name="Google Shape;197;p18"/>
            <p:cNvGrpSpPr/>
            <p:nvPr/>
          </p:nvGrpSpPr>
          <p:grpSpPr>
            <a:xfrm>
              <a:off x="19050" y="704850"/>
              <a:ext cx="114300" cy="114300"/>
              <a:chOff x="19050" y="19050"/>
              <a:chExt cx="114300" cy="114300"/>
            </a:xfrm>
          </p:grpSpPr>
          <p:sp>
            <p:nvSpPr>
              <p:cNvPr id="198" name="Google Shape;198;p18"/>
              <p:cNvSpPr/>
              <p:nvPr/>
            </p:nvSpPr>
            <p:spPr>
              <a:xfrm>
                <a:off x="19050" y="19050"/>
                <a:ext cx="1143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9" name="Google Shape;199;p18"/>
              <p:cNvCxnSpPr/>
              <p:nvPr/>
            </p:nvCxnSpPr>
            <p:spPr>
              <a:xfrm>
                <a:off x="1905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0" name="Google Shape;200;p18"/>
              <p:cNvCxnSpPr/>
              <p:nvPr/>
            </p:nvCxnSpPr>
            <p:spPr>
              <a:xfrm>
                <a:off x="19050" y="952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01" name="Google Shape;201;p18"/>
            <p:cNvSpPr txBox="1"/>
            <p:nvPr/>
          </p:nvSpPr>
          <p:spPr>
            <a:xfrm>
              <a:off x="228600" y="696058"/>
              <a:ext cx="367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Matching Engine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02" name="Google Shape;202;p18"/>
            <p:cNvGrpSpPr/>
            <p:nvPr/>
          </p:nvGrpSpPr>
          <p:grpSpPr>
            <a:xfrm>
              <a:off x="19050" y="1038225"/>
              <a:ext cx="114300" cy="114300"/>
              <a:chOff x="19050" y="19050"/>
              <a:chExt cx="114300" cy="114300"/>
            </a:xfrm>
          </p:grpSpPr>
          <p:sp>
            <p:nvSpPr>
              <p:cNvPr id="203" name="Google Shape;203;p18"/>
              <p:cNvSpPr/>
              <p:nvPr/>
            </p:nvSpPr>
            <p:spPr>
              <a:xfrm>
                <a:off x="19050" y="19050"/>
                <a:ext cx="1143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4" name="Google Shape;204;p18"/>
              <p:cNvCxnSpPr/>
              <p:nvPr/>
            </p:nvCxnSpPr>
            <p:spPr>
              <a:xfrm>
                <a:off x="1905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5" name="Google Shape;205;p18"/>
              <p:cNvCxnSpPr/>
              <p:nvPr/>
            </p:nvCxnSpPr>
            <p:spPr>
              <a:xfrm>
                <a:off x="19050" y="952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06" name="Google Shape;206;p18"/>
            <p:cNvSpPr txBox="1"/>
            <p:nvPr/>
          </p:nvSpPr>
          <p:spPr>
            <a:xfrm>
              <a:off x="228600" y="1029433"/>
              <a:ext cx="367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Surge Pricing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07" name="Google Shape;207;p18"/>
            <p:cNvGrpSpPr/>
            <p:nvPr/>
          </p:nvGrpSpPr>
          <p:grpSpPr>
            <a:xfrm>
              <a:off x="19050" y="1371600"/>
              <a:ext cx="114300" cy="114300"/>
              <a:chOff x="19050" y="19050"/>
              <a:chExt cx="114300" cy="114300"/>
            </a:xfrm>
          </p:grpSpPr>
          <p:sp>
            <p:nvSpPr>
              <p:cNvPr id="208" name="Google Shape;208;p18"/>
              <p:cNvSpPr/>
              <p:nvPr/>
            </p:nvSpPr>
            <p:spPr>
              <a:xfrm>
                <a:off x="19050" y="19050"/>
                <a:ext cx="114300" cy="114300"/>
              </a:xfrm>
              <a:prstGeom prst="roundRect">
                <a:avLst>
                  <a:gd fmla="val 16666" name="adj"/>
                </a:avLst>
              </a:pr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9" name="Google Shape;209;p18"/>
              <p:cNvCxnSpPr/>
              <p:nvPr/>
            </p:nvCxnSpPr>
            <p:spPr>
              <a:xfrm>
                <a:off x="19050" y="571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0" name="Google Shape;210;p18"/>
              <p:cNvCxnSpPr/>
              <p:nvPr/>
            </p:nvCxnSpPr>
            <p:spPr>
              <a:xfrm>
                <a:off x="19050" y="95250"/>
                <a:ext cx="114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430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11" name="Google Shape;211;p18"/>
            <p:cNvSpPr txBox="1"/>
            <p:nvPr/>
          </p:nvSpPr>
          <p:spPr>
            <a:xfrm>
              <a:off x="228600" y="1362808"/>
              <a:ext cx="3676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Billing &amp; Notifications</a:t>
              </a:r>
              <a:endParaRPr b="1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12" name="Google Shape;212;p18"/>
          <p:cNvSpPr txBox="1"/>
          <p:nvPr/>
        </p:nvSpPr>
        <p:spPr>
          <a:xfrm>
            <a:off x="4857750" y="3905400"/>
            <a:ext cx="3905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7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Supporting</a:t>
            </a:r>
            <a:r>
              <a:rPr b="0" lang="en-GB" sz="7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Services</a:t>
            </a:r>
            <a:endParaRPr b="0" sz="750">
              <a:solidFill>
                <a:srgbClr val="2563E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213" name="Google Shape;213;p18"/>
          <p:cNvGrpSpPr/>
          <p:nvPr/>
        </p:nvGrpSpPr>
        <p:grpSpPr>
          <a:xfrm>
            <a:off x="4876804" y="4193999"/>
            <a:ext cx="114300" cy="114300"/>
            <a:chOff x="5029200" y="4295775"/>
            <a:chExt cx="114300" cy="114300"/>
          </a:xfrm>
        </p:grpSpPr>
        <p:sp>
          <p:nvSpPr>
            <p:cNvPr id="214" name="Google Shape;214;p18"/>
            <p:cNvSpPr/>
            <p:nvPr/>
          </p:nvSpPr>
          <p:spPr>
            <a:xfrm>
              <a:off x="5029200" y="4295775"/>
              <a:ext cx="114300" cy="114300"/>
            </a:xfrm>
            <a:prstGeom prst="roundRect">
              <a:avLst>
                <a:gd fmla="val 16666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5" name="Google Shape;215;p18"/>
            <p:cNvCxnSpPr/>
            <p:nvPr/>
          </p:nvCxnSpPr>
          <p:spPr>
            <a:xfrm>
              <a:off x="5029200" y="4333875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6" name="Google Shape;216;p18"/>
            <p:cNvCxnSpPr/>
            <p:nvPr/>
          </p:nvCxnSpPr>
          <p:spPr>
            <a:xfrm>
              <a:off x="5029200" y="4371975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7" name="Google Shape;217;p18"/>
          <p:cNvSpPr txBox="1"/>
          <p:nvPr/>
        </p:nvSpPr>
        <p:spPr>
          <a:xfrm>
            <a:off x="5086350" y="4181475"/>
            <a:ext cx="3676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API Gateway</a:t>
            </a:r>
            <a:endParaRPr b="1" sz="9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8" name="Google Shape;218;p18"/>
          <p:cNvGrpSpPr/>
          <p:nvPr/>
        </p:nvGrpSpPr>
        <p:grpSpPr>
          <a:xfrm>
            <a:off x="4876804" y="4498799"/>
            <a:ext cx="114300" cy="114300"/>
            <a:chOff x="5029200" y="4295775"/>
            <a:chExt cx="114300" cy="114300"/>
          </a:xfrm>
        </p:grpSpPr>
        <p:sp>
          <p:nvSpPr>
            <p:cNvPr id="219" name="Google Shape;219;p18"/>
            <p:cNvSpPr/>
            <p:nvPr/>
          </p:nvSpPr>
          <p:spPr>
            <a:xfrm>
              <a:off x="5029200" y="4295775"/>
              <a:ext cx="114300" cy="114300"/>
            </a:xfrm>
            <a:prstGeom prst="roundRect">
              <a:avLst>
                <a:gd fmla="val 16666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0" name="Google Shape;220;p18"/>
            <p:cNvCxnSpPr/>
            <p:nvPr/>
          </p:nvCxnSpPr>
          <p:spPr>
            <a:xfrm>
              <a:off x="5029200" y="4333875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18"/>
            <p:cNvCxnSpPr/>
            <p:nvPr/>
          </p:nvCxnSpPr>
          <p:spPr>
            <a:xfrm>
              <a:off x="5029200" y="4371975"/>
              <a:ext cx="1143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2" name="Google Shape;222;p18"/>
          <p:cNvSpPr txBox="1"/>
          <p:nvPr/>
        </p:nvSpPr>
        <p:spPr>
          <a:xfrm>
            <a:off x="5086350" y="4486275"/>
            <a:ext cx="3676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Identity &amp; Profile</a:t>
            </a:r>
            <a:endParaRPr b="1" sz="9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1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28" name="Google Shape;228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" name="Google Shape;230;p19"/>
          <p:cNvGrpSpPr/>
          <p:nvPr/>
        </p:nvGrpSpPr>
        <p:grpSpPr>
          <a:xfrm>
            <a:off x="381000" y="381000"/>
            <a:ext cx="228600" cy="228600"/>
            <a:chOff x="0" y="0"/>
            <a:chExt cx="228600" cy="228600"/>
          </a:xfrm>
        </p:grpSpPr>
        <p:sp>
          <p:nvSpPr>
            <p:cNvPr id="231" name="Google Shape;231;p19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2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76200" y="76200"/>
              <a:ext cx="152400" cy="152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9"/>
          <p:cNvSpPr txBox="1"/>
          <p:nvPr/>
        </p:nvSpPr>
        <p:spPr>
          <a:xfrm>
            <a:off x="666750" y="342900"/>
            <a:ext cx="809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hybrid Saga pattern ensures financial consistency across distributed services.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4" name="Google Shape;234;p19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19"/>
          <p:cNvCxnSpPr/>
          <p:nvPr/>
        </p:nvCxnSpPr>
        <p:spPr>
          <a:xfrm>
            <a:off x="4572000" y="1047750"/>
            <a:ext cx="0" cy="21909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6" name="Google Shape;236;p19"/>
          <p:cNvGrpSpPr/>
          <p:nvPr/>
        </p:nvGrpSpPr>
        <p:grpSpPr>
          <a:xfrm>
            <a:off x="381000" y="1047750"/>
            <a:ext cx="3810000" cy="2057400"/>
            <a:chOff x="0" y="0"/>
            <a:chExt cx="3810000" cy="2057400"/>
          </a:xfrm>
        </p:grpSpPr>
        <p:sp>
          <p:nvSpPr>
            <p:cNvPr id="237" name="Google Shape;237;p19"/>
            <p:cNvSpPr/>
            <p:nvPr/>
          </p:nvSpPr>
          <p:spPr>
            <a:xfrm>
              <a:off x="0" y="0"/>
              <a:ext cx="3810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 txBox="1"/>
            <p:nvPr/>
          </p:nvSpPr>
          <p:spPr>
            <a:xfrm>
              <a:off x="0" y="152400"/>
              <a:ext cx="3810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Phase 1 (Booking)</a:t>
              </a:r>
              <a:endParaRPr b="0" sz="8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Synchronous Orchestration</a:t>
              </a:r>
              <a:endParaRPr b="0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Managed directly by Trip Management service to establish immediate locks and handle card authorizations.</a:t>
              </a:r>
              <a:endParaRPr b="0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Mechanism:</a:t>
              </a:r>
              <a:r>
                <a:rPr b="0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Synchronous orchestration by Trip Management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Action:</a:t>
              </a:r>
              <a:r>
                <a:rPr b="0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Lock fares and authorize cards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9" name="Google Shape;239;p19"/>
          <p:cNvGrpSpPr/>
          <p:nvPr/>
        </p:nvGrpSpPr>
        <p:grpSpPr>
          <a:xfrm>
            <a:off x="4953000" y="1047750"/>
            <a:ext cx="3810000" cy="2057400"/>
            <a:chOff x="0" y="0"/>
            <a:chExt cx="3810000" cy="2057400"/>
          </a:xfrm>
        </p:grpSpPr>
        <p:sp>
          <p:nvSpPr>
            <p:cNvPr id="240" name="Google Shape;240;p19"/>
            <p:cNvSpPr/>
            <p:nvPr/>
          </p:nvSpPr>
          <p:spPr>
            <a:xfrm>
              <a:off x="0" y="0"/>
              <a:ext cx="3810000" cy="192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9"/>
            <p:cNvSpPr txBox="1"/>
            <p:nvPr/>
          </p:nvSpPr>
          <p:spPr>
            <a:xfrm>
              <a:off x="0" y="152400"/>
              <a:ext cx="3810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Phase 2 (Completion)</a:t>
              </a:r>
              <a:endParaRPr b="0" sz="8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25">
                  <a:solidFill>
                    <a:srgbClr val="0F172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Asynchronous Choreography</a:t>
              </a:r>
              <a:endParaRPr b="0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97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Decoupled execution streaming through event-driven architecture to finalize transaction states.</a:t>
              </a:r>
              <a:endParaRPr b="0" sz="9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Mechanism:</a:t>
              </a:r>
              <a:r>
                <a:rPr b="0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Asynchronous choreography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Event Bus:</a:t>
              </a:r>
              <a:r>
                <a:rPr b="0" lang="en-GB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Apache Kafka event stream</a:t>
              </a:r>
              <a:endParaRPr b="0" sz="9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2" name="Google Shape;242;p19"/>
          <p:cNvGrpSpPr/>
          <p:nvPr/>
        </p:nvGrpSpPr>
        <p:grpSpPr>
          <a:xfrm>
            <a:off x="381000" y="3524250"/>
            <a:ext cx="8382000" cy="952500"/>
            <a:chOff x="0" y="0"/>
            <a:chExt cx="8382000" cy="952500"/>
          </a:xfrm>
        </p:grpSpPr>
        <p:sp>
          <p:nvSpPr>
            <p:cNvPr id="243" name="Google Shape;243;p19"/>
            <p:cNvSpPr/>
            <p:nvPr/>
          </p:nvSpPr>
          <p:spPr>
            <a:xfrm>
              <a:off x="0" y="0"/>
              <a:ext cx="38100" cy="9525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/>
            <p:nvPr/>
          </p:nvSpPr>
          <p:spPr>
            <a:xfrm>
              <a:off x="38100" y="0"/>
              <a:ext cx="8343900" cy="952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9"/>
            <p:cNvSpPr txBox="1"/>
            <p:nvPr/>
          </p:nvSpPr>
          <p:spPr>
            <a:xfrm>
              <a:off x="266700" y="171450"/>
              <a:ext cx="78867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2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Reliability &amp; Data Integrity</a:t>
              </a:r>
              <a:endParaRPr b="0" sz="82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Reliability:</a:t>
              </a:r>
              <a:r>
                <a:rPr b="0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Transactional outbox pattern and strict idempotency prevent double charges.</a:t>
              </a:r>
              <a:endParaRPr b="0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1" name="Google Shape;251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2" name="Google Shape;252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3" name="Google Shape;253;p20"/>
          <p:cNvGrpSpPr/>
          <p:nvPr/>
        </p:nvGrpSpPr>
        <p:grpSpPr>
          <a:xfrm>
            <a:off x="381000" y="381000"/>
            <a:ext cx="228600" cy="228600"/>
            <a:chOff x="0" y="0"/>
            <a:chExt cx="228600" cy="228600"/>
          </a:xfrm>
        </p:grpSpPr>
        <p:sp>
          <p:nvSpPr>
            <p:cNvPr id="254" name="Google Shape;254;p20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2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76200" y="76200"/>
              <a:ext cx="152400" cy="152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6" name="Google Shape;256;p20"/>
          <p:cNvSpPr txBox="1"/>
          <p:nvPr/>
        </p:nvSpPr>
        <p:spPr>
          <a:xfrm>
            <a:off x="666750" y="342900"/>
            <a:ext cx="809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Redis Geo and atomic Lua locks ensure sub-500ms matching without double-booking.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57" name="Google Shape;257;p20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0"/>
          <p:cNvCxnSpPr/>
          <p:nvPr/>
        </p:nvCxnSpPr>
        <p:spPr>
          <a:xfrm>
            <a:off x="4572000" y="1047750"/>
            <a:ext cx="0" cy="37149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9" name="Google Shape;259;p20"/>
          <p:cNvGrpSpPr/>
          <p:nvPr/>
        </p:nvGrpSpPr>
        <p:grpSpPr>
          <a:xfrm>
            <a:off x="381000" y="1047750"/>
            <a:ext cx="4000500" cy="3476775"/>
            <a:chOff x="0" y="0"/>
            <a:chExt cx="4000500" cy="3476775"/>
          </a:xfrm>
        </p:grpSpPr>
        <p:pic>
          <p:nvPicPr>
            <p:cNvPr id="260" name="Google Shape;260;p20"/>
            <p:cNvPicPr preferRelativeResize="0"/>
            <p:nvPr/>
          </p:nvPicPr>
          <p:blipFill rotWithShape="1">
            <a:blip r:embed="rId4">
              <a:alphaModFix/>
            </a:blip>
            <a:srcRect b="50" l="0" r="0" t="50"/>
            <a:stretch/>
          </p:blipFill>
          <p:spPr>
            <a:xfrm>
              <a:off x="0" y="0"/>
              <a:ext cx="4000500" cy="2238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61" name="Google Shape;261;p20"/>
            <p:cNvGrpSpPr/>
            <p:nvPr/>
          </p:nvGrpSpPr>
          <p:grpSpPr>
            <a:xfrm>
              <a:off x="0" y="2428875"/>
              <a:ext cx="4000500" cy="1047900"/>
              <a:chOff x="0" y="0"/>
              <a:chExt cx="4000500" cy="1047900"/>
            </a:xfrm>
          </p:grpSpPr>
          <p:sp>
            <p:nvSpPr>
              <p:cNvPr id="262" name="Google Shape;262;p20"/>
              <p:cNvSpPr/>
              <p:nvPr/>
            </p:nvSpPr>
            <p:spPr>
              <a:xfrm>
                <a:off x="0" y="0"/>
                <a:ext cx="38100" cy="10479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0"/>
              <p:cNvSpPr/>
              <p:nvPr/>
            </p:nvSpPr>
            <p:spPr>
              <a:xfrm>
                <a:off x="38100" y="0"/>
                <a:ext cx="3962400" cy="1047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0"/>
              <p:cNvSpPr txBox="1"/>
              <p:nvPr/>
            </p:nvSpPr>
            <p:spPr>
              <a:xfrm>
                <a:off x="190500" y="114300"/>
                <a:ext cx="3657600" cy="81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C4 LEVEL 3 ARCHITECTURE</a:t>
                </a:r>
                <a:endParaRPr b="0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The Matching Engine container handles location processing, candidate finding, ranker filtering, and driver locking within the 500ms strict latency budget.</a:t>
                </a:r>
                <a:endParaRPr b="0" sz="8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5" name="Google Shape;265;p20"/>
          <p:cNvGrpSpPr/>
          <p:nvPr/>
        </p:nvGrpSpPr>
        <p:grpSpPr>
          <a:xfrm>
            <a:off x="4857750" y="1047750"/>
            <a:ext cx="3905400" cy="3381375"/>
            <a:chOff x="0" y="0"/>
            <a:chExt cx="3905400" cy="3381375"/>
          </a:xfrm>
        </p:grpSpPr>
        <p:grpSp>
          <p:nvGrpSpPr>
            <p:cNvPr id="266" name="Google Shape;266;p20"/>
            <p:cNvGrpSpPr/>
            <p:nvPr/>
          </p:nvGrpSpPr>
          <p:grpSpPr>
            <a:xfrm>
              <a:off x="0" y="0"/>
              <a:ext cx="3905400" cy="1000200"/>
              <a:chOff x="0" y="0"/>
              <a:chExt cx="3905400" cy="1000200"/>
            </a:xfrm>
          </p:grpSpPr>
          <p:sp>
            <p:nvSpPr>
              <p:cNvPr id="267" name="Google Shape;267;p20"/>
              <p:cNvSpPr/>
              <p:nvPr/>
            </p:nvSpPr>
            <p:spPr>
              <a:xfrm>
                <a:off x="0" y="0"/>
                <a:ext cx="3905400" cy="1000200"/>
              </a:xfrm>
              <a:prstGeom prst="roundRect">
                <a:avLst>
                  <a:gd fmla="val 3809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0"/>
              <p:cNvSpPr/>
              <p:nvPr/>
            </p:nvSpPr>
            <p:spPr>
              <a:xfrm>
                <a:off x="0" y="0"/>
                <a:ext cx="3905400" cy="285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0"/>
              <p:cNvSpPr txBox="1"/>
              <p:nvPr/>
            </p:nvSpPr>
            <p:spPr>
              <a:xfrm>
                <a:off x="190500" y="114300"/>
                <a:ext cx="3524400" cy="7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HAPPY-PATH LATENCY BUDGET</a:t>
                </a:r>
                <a:endParaRPr b="0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2400">
                    <a:solidFill>
                      <a:srgbClr val="2563EB"/>
                    </a:solidFill>
                    <a:latin typeface="Inter"/>
                    <a:ea typeface="Inter"/>
                    <a:cs typeface="Inter"/>
                    <a:sym typeface="Inter"/>
                  </a:rPr>
                  <a:t>155 ms</a:t>
                </a:r>
                <a:endParaRPr b="1" sz="24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n-GB" sz="825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Total end-to-end execution latency for driver assignment</a:t>
                </a:r>
                <a:endParaRPr b="0" sz="825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70" name="Google Shape;270;p20"/>
            <p:cNvGrpSpPr/>
            <p:nvPr/>
          </p:nvGrpSpPr>
          <p:grpSpPr>
            <a:xfrm>
              <a:off x="0" y="1190625"/>
              <a:ext cx="3905400" cy="2190750"/>
              <a:chOff x="0" y="0"/>
              <a:chExt cx="3905400" cy="2190750"/>
            </a:xfrm>
          </p:grpSpPr>
          <p:grpSp>
            <p:nvGrpSpPr>
              <p:cNvPr id="271" name="Google Shape;271;p20"/>
              <p:cNvGrpSpPr/>
              <p:nvPr/>
            </p:nvGrpSpPr>
            <p:grpSpPr>
              <a:xfrm>
                <a:off x="0" y="0"/>
                <a:ext cx="3905400" cy="666900"/>
                <a:chOff x="0" y="0"/>
                <a:chExt cx="3905400" cy="666900"/>
              </a:xfrm>
            </p:grpSpPr>
            <p:sp>
              <p:nvSpPr>
                <p:cNvPr id="272" name="Google Shape;272;p20"/>
                <p:cNvSpPr/>
                <p:nvPr/>
              </p:nvSpPr>
              <p:spPr>
                <a:xfrm>
                  <a:off x="0" y="0"/>
                  <a:ext cx="152400" cy="152400"/>
                </a:xfrm>
                <a:prstGeom prst="ellipse">
                  <a:avLst/>
                </a:prstGeom>
                <a:solidFill>
                  <a:srgbClr val="DBEAF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20"/>
                <p:cNvSpPr/>
                <p:nvPr/>
              </p:nvSpPr>
              <p:spPr>
                <a:xfrm>
                  <a:off x="38100" y="47625"/>
                  <a:ext cx="76200" cy="525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5455"/>
                      </a:moveTo>
                      <a:lnTo>
                        <a:pt x="375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20"/>
                <p:cNvSpPr txBox="1"/>
                <p:nvPr/>
              </p:nvSpPr>
              <p:spPr>
                <a:xfrm>
                  <a:off x="228600" y="0"/>
                  <a:ext cx="3676800" cy="66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b="1" lang="en-GB" sz="900">
                      <a:solidFill>
                        <a:srgbClr val="0F172A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Speed:</a:t>
                  </a:r>
                  <a:r>
                    <a:rPr lang="en-GB" sz="900">
                      <a:solidFill>
                        <a:srgbClr val="0F172A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Designed for sub-500 ms matching, with a 155 ms happy-path latency budget using gRPC and internal pipelines.</a:t>
                  </a:r>
                  <a:endParaRPr b="0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75" name="Google Shape;275;p20"/>
              <p:cNvGrpSpPr/>
              <p:nvPr/>
            </p:nvGrpSpPr>
            <p:grpSpPr>
              <a:xfrm>
                <a:off x="0" y="714375"/>
                <a:ext cx="3905400" cy="666900"/>
                <a:chOff x="0" y="0"/>
                <a:chExt cx="3905400" cy="666900"/>
              </a:xfrm>
            </p:grpSpPr>
            <p:sp>
              <p:nvSpPr>
                <p:cNvPr id="276" name="Google Shape;276;p20"/>
                <p:cNvSpPr/>
                <p:nvPr/>
              </p:nvSpPr>
              <p:spPr>
                <a:xfrm>
                  <a:off x="0" y="0"/>
                  <a:ext cx="152400" cy="152400"/>
                </a:xfrm>
                <a:prstGeom prst="ellipse">
                  <a:avLst/>
                </a:prstGeom>
                <a:solidFill>
                  <a:srgbClr val="DBEAF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20"/>
                <p:cNvSpPr/>
                <p:nvPr/>
              </p:nvSpPr>
              <p:spPr>
                <a:xfrm>
                  <a:off x="38100" y="47625"/>
                  <a:ext cx="76200" cy="525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5455"/>
                      </a:moveTo>
                      <a:lnTo>
                        <a:pt x="375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20"/>
                <p:cNvSpPr txBox="1"/>
                <p:nvPr/>
              </p:nvSpPr>
              <p:spPr>
                <a:xfrm>
                  <a:off x="228600" y="0"/>
                  <a:ext cx="3676800" cy="666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b="1" lang="en-GB" sz="900">
                      <a:solidFill>
                        <a:srgbClr val="0F172A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Freshness:</a:t>
                  </a:r>
                  <a:r>
                    <a:rPr b="0" lang="en-GB" sz="900">
                      <a:solidFill>
                        <a:srgbClr val="0F172A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Redis Geo index continuously rebuilds every ~4 seconds directly from the Kafka driver location stream with a 15s TTL.</a:t>
                  </a:r>
                  <a:endParaRPr b="0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79" name="Google Shape;279;p20"/>
              <p:cNvGrpSpPr/>
              <p:nvPr/>
            </p:nvGrpSpPr>
            <p:grpSpPr>
              <a:xfrm>
                <a:off x="0" y="1428750"/>
                <a:ext cx="3905400" cy="762000"/>
                <a:chOff x="0" y="0"/>
                <a:chExt cx="3905400" cy="762000"/>
              </a:xfrm>
            </p:grpSpPr>
            <p:sp>
              <p:nvSpPr>
                <p:cNvPr id="280" name="Google Shape;280;p20"/>
                <p:cNvSpPr/>
                <p:nvPr/>
              </p:nvSpPr>
              <p:spPr>
                <a:xfrm>
                  <a:off x="0" y="0"/>
                  <a:ext cx="152400" cy="152400"/>
                </a:xfrm>
                <a:prstGeom prst="ellipse">
                  <a:avLst/>
                </a:prstGeom>
                <a:solidFill>
                  <a:srgbClr val="DBEAFE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20"/>
                <p:cNvSpPr/>
                <p:nvPr/>
              </p:nvSpPr>
              <p:spPr>
                <a:xfrm>
                  <a:off x="38100" y="47625"/>
                  <a:ext cx="76200" cy="525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5455"/>
                      </a:moveTo>
                      <a:lnTo>
                        <a:pt x="375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20"/>
                <p:cNvSpPr txBox="1"/>
                <p:nvPr/>
              </p:nvSpPr>
              <p:spPr>
                <a:xfrm>
                  <a:off x="228600" y="0"/>
                  <a:ext cx="3676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600"/>
                    </a:spcAft>
                    <a:buNone/>
                  </a:pPr>
                  <a:r>
                    <a:rPr b="1" lang="en-GB" sz="900">
                      <a:solidFill>
                        <a:srgbClr val="0F172A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Concurrency:</a:t>
                  </a:r>
                  <a:r>
                    <a:rPr b="0" lang="en-GB" sz="900">
                      <a:solidFill>
                        <a:srgbClr val="0F172A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Atomic check-and-set Redis Lua scripts execute state flips (AVAILABLE -&gt; ASSIGNED) to prevent driver double-booking.</a:t>
                  </a:r>
                  <a:endParaRPr b="0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2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88" name="Google Shape;288;p21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9" name="Google Shape;289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0" name="Google Shape;290;p21"/>
          <p:cNvGrpSpPr/>
          <p:nvPr/>
        </p:nvGrpSpPr>
        <p:grpSpPr>
          <a:xfrm>
            <a:off x="381000" y="381000"/>
            <a:ext cx="228600" cy="228600"/>
            <a:chOff x="0" y="0"/>
            <a:chExt cx="228600" cy="228600"/>
          </a:xfrm>
        </p:grpSpPr>
        <p:sp>
          <p:nvSpPr>
            <p:cNvPr id="291" name="Google Shape;291;p21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2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76200" y="76200"/>
              <a:ext cx="152400" cy="152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21"/>
          <p:cNvSpPr txBox="1"/>
          <p:nvPr/>
        </p:nvSpPr>
        <p:spPr>
          <a:xfrm>
            <a:off x="666750" y="342900"/>
            <a:ext cx="809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Kafka Decouples Heavy Write Traffic &amp; Isolates Failures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94" name="Google Shape;294;p21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5" name="Google Shape;295;p21"/>
          <p:cNvGrpSpPr/>
          <p:nvPr/>
        </p:nvGrpSpPr>
        <p:grpSpPr>
          <a:xfrm>
            <a:off x="381000" y="1095375"/>
            <a:ext cx="2667000" cy="1809900"/>
            <a:chOff x="0" y="0"/>
            <a:chExt cx="2667000" cy="1809900"/>
          </a:xfrm>
        </p:grpSpPr>
        <p:sp>
          <p:nvSpPr>
            <p:cNvPr id="296" name="Google Shape;296;p21"/>
            <p:cNvSpPr/>
            <p:nvPr/>
          </p:nvSpPr>
          <p:spPr>
            <a:xfrm>
              <a:off x="0" y="0"/>
              <a:ext cx="26670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0" y="38100"/>
              <a:ext cx="2667000" cy="1771800"/>
            </a:xfrm>
            <a:prstGeom prst="roundRect">
              <a:avLst>
                <a:gd fmla="val 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1"/>
            <p:cNvSpPr txBox="1"/>
            <p:nvPr/>
          </p:nvSpPr>
          <p:spPr>
            <a:xfrm>
              <a:off x="190500" y="228600"/>
              <a:ext cx="228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BUFFERING CAPACITY</a:t>
              </a:r>
              <a:endParaRPr b="0" sz="7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28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37,500</a:t>
              </a:r>
              <a:endParaRPr b="1" sz="28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975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GPS pings / second</a:t>
              </a:r>
              <a:endParaRPr b="0" sz="975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Stream safely processed through partitioned Kafka topics without persistent database load spikes.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9" name="Google Shape;299;p21"/>
          <p:cNvGrpSpPr/>
          <p:nvPr/>
        </p:nvGrpSpPr>
        <p:grpSpPr>
          <a:xfrm>
            <a:off x="3333750" y="1095375"/>
            <a:ext cx="5429400" cy="1762125"/>
            <a:chOff x="0" y="0"/>
            <a:chExt cx="5429400" cy="1762125"/>
          </a:xfrm>
        </p:grpSpPr>
        <p:grpSp>
          <p:nvGrpSpPr>
            <p:cNvPr id="300" name="Google Shape;300;p21"/>
            <p:cNvGrpSpPr/>
            <p:nvPr/>
          </p:nvGrpSpPr>
          <p:grpSpPr>
            <a:xfrm>
              <a:off x="19050" y="0"/>
              <a:ext cx="5410350" cy="762000"/>
              <a:chOff x="19050" y="0"/>
              <a:chExt cx="5410350" cy="762000"/>
            </a:xfrm>
          </p:grpSpPr>
          <p:grpSp>
            <p:nvGrpSpPr>
              <p:cNvPr id="301" name="Google Shape;301;p21"/>
              <p:cNvGrpSpPr/>
              <p:nvPr/>
            </p:nvGrpSpPr>
            <p:grpSpPr>
              <a:xfrm>
                <a:off x="19050" y="38100"/>
                <a:ext cx="114300" cy="114300"/>
                <a:chOff x="19050" y="19050"/>
                <a:chExt cx="114300" cy="114300"/>
              </a:xfrm>
            </p:grpSpPr>
            <p:sp>
              <p:nvSpPr>
                <p:cNvPr id="302" name="Google Shape;302;p21"/>
                <p:cNvSpPr/>
                <p:nvPr/>
              </p:nvSpPr>
              <p:spPr>
                <a:xfrm>
                  <a:off x="19050" y="19050"/>
                  <a:ext cx="1143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000000">
                    <a:alpha val="0"/>
                  </a:srgbClr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03" name="Google Shape;303;p21"/>
                <p:cNvCxnSpPr/>
                <p:nvPr/>
              </p:nvCxnSpPr>
              <p:spPr>
                <a:xfrm>
                  <a:off x="19050" y="571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21"/>
                <p:cNvCxnSpPr/>
                <p:nvPr/>
              </p:nvCxnSpPr>
              <p:spPr>
                <a:xfrm>
                  <a:off x="19050" y="952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05" name="Google Shape;305;p21"/>
              <p:cNvSpPr txBox="1"/>
              <p:nvPr/>
            </p:nvSpPr>
            <p:spPr>
              <a:xfrm>
                <a:off x="228600" y="0"/>
                <a:ext cx="5200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75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Resilience (Debezium CDC):</a:t>
                </a:r>
                <a:endParaRPr b="0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Debezium CDC tails the Trip Management and Billing outbox logs and publishes events to Kafka; retries and consumer idempotency provide at-least-once processing.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306" name="Google Shape;306;p21"/>
            <p:cNvCxnSpPr/>
            <p:nvPr/>
          </p:nvCxnSpPr>
          <p:spPr>
            <a:xfrm>
              <a:off x="0" y="857250"/>
              <a:ext cx="5429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07" name="Google Shape;307;p21"/>
            <p:cNvGrpSpPr/>
            <p:nvPr/>
          </p:nvGrpSpPr>
          <p:grpSpPr>
            <a:xfrm>
              <a:off x="19050" y="1000125"/>
              <a:ext cx="5410350" cy="762000"/>
              <a:chOff x="19050" y="0"/>
              <a:chExt cx="5410350" cy="762000"/>
            </a:xfrm>
          </p:grpSpPr>
          <p:grpSp>
            <p:nvGrpSpPr>
              <p:cNvPr id="308" name="Google Shape;308;p21"/>
              <p:cNvGrpSpPr/>
              <p:nvPr/>
            </p:nvGrpSpPr>
            <p:grpSpPr>
              <a:xfrm>
                <a:off x="19050" y="38100"/>
                <a:ext cx="114300" cy="114300"/>
                <a:chOff x="19050" y="19050"/>
                <a:chExt cx="114300" cy="114300"/>
              </a:xfrm>
            </p:grpSpPr>
            <p:sp>
              <p:nvSpPr>
                <p:cNvPr id="309" name="Google Shape;309;p21"/>
                <p:cNvSpPr/>
                <p:nvPr/>
              </p:nvSpPr>
              <p:spPr>
                <a:xfrm>
                  <a:off x="19050" y="19050"/>
                  <a:ext cx="114300" cy="114300"/>
                </a:xfrm>
                <a:prstGeom prst="roundRect">
                  <a:avLst>
                    <a:gd fmla="val 16666" name="adj"/>
                  </a:avLst>
                </a:prstGeom>
                <a:solidFill>
                  <a:srgbClr val="000000">
                    <a:alpha val="0"/>
                  </a:srgbClr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10" name="Google Shape;310;p21"/>
                <p:cNvCxnSpPr/>
                <p:nvPr/>
              </p:nvCxnSpPr>
              <p:spPr>
                <a:xfrm>
                  <a:off x="19050" y="571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1" name="Google Shape;311;p21"/>
                <p:cNvCxnSpPr/>
                <p:nvPr/>
              </p:nvCxnSpPr>
              <p:spPr>
                <a:xfrm>
                  <a:off x="19050" y="95250"/>
                  <a:ext cx="114300" cy="0"/>
                </a:xfrm>
                <a:prstGeom prst="straightConnector1">
                  <a:avLst/>
                </a:prstGeom>
                <a:solidFill>
                  <a:srgbClr val="FFFFFF"/>
                </a:solidFill>
                <a:ln cap="flat" cmpd="sng" w="14300">
                  <a:solidFill>
                    <a:srgbClr val="2563EB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12" name="Google Shape;312;p21"/>
              <p:cNvSpPr txBox="1"/>
              <p:nvPr/>
            </p:nvSpPr>
            <p:spPr>
              <a:xfrm>
                <a:off x="228600" y="0"/>
                <a:ext cx="52008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975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Protection (Circuit Breakers):</a:t>
                </a:r>
                <a:endParaRPr b="0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GB" sz="9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Circuit breakers and adaptive rate limiters strictly protect the core synchronous request path from cascading upstream failures.</a:t>
                </a:r>
                <a:endParaRPr b="0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13" name="Google Shape;313;p21"/>
          <p:cNvGrpSpPr/>
          <p:nvPr/>
        </p:nvGrpSpPr>
        <p:grpSpPr>
          <a:xfrm>
            <a:off x="381000" y="3190875"/>
            <a:ext cx="8382000" cy="1428900"/>
            <a:chOff x="0" y="0"/>
            <a:chExt cx="8382000" cy="1428900"/>
          </a:xfrm>
        </p:grpSpPr>
        <p:sp>
          <p:nvSpPr>
            <p:cNvPr id="314" name="Google Shape;314;p21"/>
            <p:cNvSpPr/>
            <p:nvPr/>
          </p:nvSpPr>
          <p:spPr>
            <a:xfrm>
              <a:off x="0" y="0"/>
              <a:ext cx="38100" cy="14289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38100" y="0"/>
              <a:ext cx="8343900" cy="14289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1"/>
            <p:cNvSpPr txBox="1"/>
            <p:nvPr/>
          </p:nvSpPr>
          <p:spPr>
            <a:xfrm>
              <a:off x="304800" y="190500"/>
              <a:ext cx="7810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ARCHITECTURAL BOUNDARY &amp; ISOLATION NOTE</a:t>
              </a:r>
              <a:endParaRPr b="0" sz="7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Buffering:</a:t>
              </a:r>
              <a:r>
                <a:rPr b="0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37,500 GPS pings/s stream safely through Kafka partitions.</a:t>
              </a:r>
              <a:endParaRPr b="0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Resilience:</a:t>
              </a:r>
              <a:r>
                <a:rPr b="0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Debezium CDC publishes outbox events to Kafka; retries and idempotency provide at-least-once processing.</a:t>
              </a:r>
              <a:endParaRPr b="0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Protection:</a:t>
              </a:r>
              <a:r>
                <a:rPr b="0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Circuit breakers and rate limiters protect the core request path.</a:t>
              </a:r>
              <a:endParaRPr b="0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22" name="Google Shape;322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3" name="Google Shape;323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4" name="Google Shape;324;p22"/>
          <p:cNvGrpSpPr/>
          <p:nvPr/>
        </p:nvGrpSpPr>
        <p:grpSpPr>
          <a:xfrm>
            <a:off x="381000" y="381000"/>
            <a:ext cx="228600" cy="228600"/>
            <a:chOff x="0" y="0"/>
            <a:chExt cx="228600" cy="228600"/>
          </a:xfrm>
        </p:grpSpPr>
        <p:sp>
          <p:nvSpPr>
            <p:cNvPr id="325" name="Google Shape;325;p22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2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76200" y="76200"/>
              <a:ext cx="152400" cy="152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22"/>
          <p:cNvSpPr txBox="1"/>
          <p:nvPr/>
        </p:nvSpPr>
        <p:spPr>
          <a:xfrm>
            <a:off x="666750" y="342900"/>
            <a:ext cx="809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Three self-contained regional cells contain blast radius and ensure high availability.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28" name="Google Shape;328;p22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22"/>
          <p:cNvCxnSpPr/>
          <p:nvPr/>
        </p:nvCxnSpPr>
        <p:spPr>
          <a:xfrm>
            <a:off x="4572000" y="1047750"/>
            <a:ext cx="0" cy="37149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0" name="Google Shape;330;p22"/>
          <p:cNvGrpSpPr/>
          <p:nvPr/>
        </p:nvGrpSpPr>
        <p:grpSpPr>
          <a:xfrm>
            <a:off x="381000" y="1047750"/>
            <a:ext cx="3962400" cy="3714900"/>
            <a:chOff x="0" y="0"/>
            <a:chExt cx="3962400" cy="3714900"/>
          </a:xfrm>
        </p:grpSpPr>
        <p:sp>
          <p:nvSpPr>
            <p:cNvPr id="331" name="Google Shape;331;p22"/>
            <p:cNvSpPr/>
            <p:nvPr/>
          </p:nvSpPr>
          <p:spPr>
            <a:xfrm>
              <a:off x="0" y="0"/>
              <a:ext cx="3962400" cy="3714900"/>
            </a:xfrm>
            <a:prstGeom prst="roundRect">
              <a:avLst>
                <a:gd fmla="val 1025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2" name="Google Shape;332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300" y="47625"/>
              <a:ext cx="2200200" cy="3619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3" name="Google Shape;333;p22"/>
          <p:cNvGrpSpPr/>
          <p:nvPr/>
        </p:nvGrpSpPr>
        <p:grpSpPr>
          <a:xfrm>
            <a:off x="4857750" y="1238250"/>
            <a:ext cx="3905400" cy="3381375"/>
            <a:chOff x="0" y="190500"/>
            <a:chExt cx="3905400" cy="3381375"/>
          </a:xfrm>
        </p:grpSpPr>
        <p:grpSp>
          <p:nvGrpSpPr>
            <p:cNvPr id="334" name="Google Shape;334;p22"/>
            <p:cNvGrpSpPr/>
            <p:nvPr/>
          </p:nvGrpSpPr>
          <p:grpSpPr>
            <a:xfrm>
              <a:off x="0" y="190500"/>
              <a:ext cx="3905400" cy="504900"/>
              <a:chOff x="0" y="190500"/>
              <a:chExt cx="3905400" cy="504900"/>
            </a:xfrm>
          </p:grpSpPr>
          <p:sp>
            <p:nvSpPr>
              <p:cNvPr id="335" name="Google Shape;335;p22"/>
              <p:cNvSpPr/>
              <p:nvPr/>
            </p:nvSpPr>
            <p:spPr>
              <a:xfrm>
                <a:off x="0" y="190500"/>
                <a:ext cx="39054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22"/>
              <p:cNvSpPr txBox="1"/>
              <p:nvPr/>
            </p:nvSpPr>
            <p:spPr>
              <a:xfrm>
                <a:off x="0" y="266700"/>
                <a:ext cx="3905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Deployed across three distinct regional cells: </a:t>
                </a:r>
                <a:r>
                  <a:rPr b="1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ap-south-1</a:t>
                </a:r>
                <a:r>
                  <a:rPr b="0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, </a:t>
                </a:r>
                <a:r>
                  <a:rPr b="1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eu-west-1</a:t>
                </a:r>
                <a:r>
                  <a:rPr b="0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, and </a:t>
                </a:r>
                <a:r>
                  <a:rPr b="1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us-east-1</a:t>
                </a:r>
                <a:r>
                  <a:rPr b="0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37" name="Google Shape;337;p22"/>
            <p:cNvGrpSpPr/>
            <p:nvPr/>
          </p:nvGrpSpPr>
          <p:grpSpPr>
            <a:xfrm>
              <a:off x="0" y="1000125"/>
              <a:ext cx="3905400" cy="600000"/>
              <a:chOff x="0" y="190500"/>
              <a:chExt cx="3905400" cy="600000"/>
            </a:xfrm>
          </p:grpSpPr>
          <p:sp>
            <p:nvSpPr>
              <p:cNvPr id="338" name="Google Shape;338;p22"/>
              <p:cNvSpPr/>
              <p:nvPr/>
            </p:nvSpPr>
            <p:spPr>
              <a:xfrm>
                <a:off x="0" y="190500"/>
                <a:ext cx="39054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22"/>
              <p:cNvSpPr txBox="1"/>
              <p:nvPr/>
            </p:nvSpPr>
            <p:spPr>
              <a:xfrm>
                <a:off x="0" y="266700"/>
                <a:ext cx="3905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Matching operations never cross cell boundaries, ensuring complete fault isolation and eliminating cross-region dependencies during active trips.</a:t>
                </a:r>
                <a:endParaRPr b="0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0" name="Google Shape;340;p22"/>
            <p:cNvGrpSpPr/>
            <p:nvPr/>
          </p:nvGrpSpPr>
          <p:grpSpPr>
            <a:xfrm>
              <a:off x="0" y="1905000"/>
              <a:ext cx="3905400" cy="600000"/>
              <a:chOff x="0" y="190500"/>
              <a:chExt cx="3905400" cy="600000"/>
            </a:xfrm>
          </p:grpSpPr>
          <p:sp>
            <p:nvSpPr>
              <p:cNvPr id="341" name="Google Shape;341;p22"/>
              <p:cNvSpPr/>
              <p:nvPr/>
            </p:nvSpPr>
            <p:spPr>
              <a:xfrm>
                <a:off x="0" y="190500"/>
                <a:ext cx="3905400" cy="960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22"/>
              <p:cNvSpPr txBox="1"/>
              <p:nvPr/>
            </p:nvSpPr>
            <p:spPr>
              <a:xfrm>
                <a:off x="0" y="266700"/>
                <a:ext cx="3905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900"/>
                  </a:spcAft>
                  <a:buNone/>
                </a:pPr>
                <a:r>
                  <a:rPr b="0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Stateless services dynamic capacity strategy leverages a hybrid topology, utilizing </a:t>
                </a:r>
                <a:r>
                  <a:rPr b="1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EC2 Spot capacity</a:t>
                </a:r>
                <a:r>
                  <a:rPr b="0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 above a predictable </a:t>
                </a:r>
                <a:r>
                  <a:rPr b="1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On-Demand floor</a:t>
                </a:r>
                <a:r>
                  <a:rPr b="0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43" name="Google Shape;343;p22"/>
            <p:cNvGrpSpPr/>
            <p:nvPr/>
          </p:nvGrpSpPr>
          <p:grpSpPr>
            <a:xfrm>
              <a:off x="0" y="2619375"/>
              <a:ext cx="3905400" cy="952500"/>
              <a:chOff x="0" y="0"/>
              <a:chExt cx="3905400" cy="952500"/>
            </a:xfrm>
          </p:grpSpPr>
          <p:sp>
            <p:nvSpPr>
              <p:cNvPr id="344" name="Google Shape;344;p22"/>
              <p:cNvSpPr/>
              <p:nvPr/>
            </p:nvSpPr>
            <p:spPr>
              <a:xfrm>
                <a:off x="0" y="0"/>
                <a:ext cx="38100" cy="952500"/>
              </a:xfrm>
              <a:prstGeom prst="rect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22"/>
              <p:cNvSpPr/>
              <p:nvPr/>
            </p:nvSpPr>
            <p:spPr>
              <a:xfrm>
                <a:off x="38100" y="0"/>
                <a:ext cx="3867300" cy="9525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22"/>
              <p:cNvSpPr txBox="1"/>
              <p:nvPr/>
            </p:nvSpPr>
            <p:spPr>
              <a:xfrm>
                <a:off x="190500" y="133350"/>
                <a:ext cx="35622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2563E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Architecture Guarantee</a:t>
                </a:r>
                <a:endParaRPr b="0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Blast Radius Containment:</a:t>
                </a:r>
                <a:r>
                  <a:rPr b="0" lang="en-GB" sz="9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 Complete regional failure limits impact to 33% of global traffic, maintaining uninterrupted service across remaining cells.</a:t>
                </a:r>
                <a:endParaRPr b="0" sz="9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oogle Shape;351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52" name="Google Shape;352;p2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3" name="Google Shape;353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4" name="Google Shape;354;p23"/>
          <p:cNvGrpSpPr/>
          <p:nvPr/>
        </p:nvGrpSpPr>
        <p:grpSpPr>
          <a:xfrm>
            <a:off x="381000" y="381000"/>
            <a:ext cx="228600" cy="228600"/>
            <a:chOff x="0" y="0"/>
            <a:chExt cx="228600" cy="228600"/>
          </a:xfrm>
        </p:grpSpPr>
        <p:sp>
          <p:nvSpPr>
            <p:cNvPr id="355" name="Google Shape;355;p23"/>
            <p:cNvSpPr/>
            <p:nvPr/>
          </p:nvSpPr>
          <p:spPr>
            <a:xfrm>
              <a:off x="0" y="0"/>
              <a:ext cx="152400" cy="152400"/>
            </a:xfrm>
            <a:prstGeom prst="roundRect">
              <a:avLst>
                <a:gd fmla="val 25000" name="adj"/>
              </a:avLst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3"/>
            <p:cNvSpPr/>
            <p:nvPr/>
          </p:nvSpPr>
          <p:spPr>
            <a:xfrm>
              <a:off x="76200" y="76200"/>
              <a:ext cx="152400" cy="1524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23"/>
          <p:cNvSpPr txBox="1"/>
          <p:nvPr/>
        </p:nvSpPr>
        <p:spPr>
          <a:xfrm>
            <a:off x="666750" y="342900"/>
            <a:ext cx="8096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Cost engineering keeps infrastructure spend at 1.12 LKR per ride.</a:t>
            </a:r>
            <a:endParaRPr b="1" sz="15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58" name="Google Shape;358;p23"/>
          <p:cNvCxnSpPr/>
          <p:nvPr/>
        </p:nvCxnSpPr>
        <p:spPr>
          <a:xfrm>
            <a:off x="381000" y="809625"/>
            <a:ext cx="8382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9" name="Google Shape;359;p23"/>
          <p:cNvGrpSpPr/>
          <p:nvPr/>
        </p:nvGrpSpPr>
        <p:grpSpPr>
          <a:xfrm>
            <a:off x="381000" y="1143000"/>
            <a:ext cx="8382000" cy="1609800"/>
            <a:chOff x="0" y="0"/>
            <a:chExt cx="8382000" cy="1609800"/>
          </a:xfrm>
        </p:grpSpPr>
        <p:sp>
          <p:nvSpPr>
            <p:cNvPr id="360" name="Google Shape;360;p23"/>
            <p:cNvSpPr/>
            <p:nvPr/>
          </p:nvSpPr>
          <p:spPr>
            <a:xfrm>
              <a:off x="0" y="0"/>
              <a:ext cx="8382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3"/>
            <p:cNvSpPr txBox="1"/>
            <p:nvPr/>
          </p:nvSpPr>
          <p:spPr>
            <a:xfrm>
              <a:off x="0" y="1333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AWS Infrastructure</a:t>
              </a:r>
              <a:endParaRPr b="0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2" name="Google Shape;362;p23"/>
            <p:cNvSpPr txBox="1"/>
            <p:nvPr/>
          </p:nvSpPr>
          <p:spPr>
            <a:xfrm>
              <a:off x="4000500" y="133350"/>
              <a:ext cx="438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1.12 LKR</a:t>
              </a:r>
              <a:r>
                <a:rPr b="0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(Spot compute, Graviton, S3 tiering)</a:t>
              </a:r>
              <a:endParaRPr b="0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3" name="Google Shape;363;p23"/>
            <p:cNvSpPr/>
            <p:nvPr/>
          </p:nvSpPr>
          <p:spPr>
            <a:xfrm>
              <a:off x="0" y="495300"/>
              <a:ext cx="8382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3"/>
            <p:cNvSpPr txBox="1"/>
            <p:nvPr/>
          </p:nvSpPr>
          <p:spPr>
            <a:xfrm>
              <a:off x="0" y="6286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Third-Party APIs</a:t>
              </a:r>
              <a:endParaRPr b="0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5" name="Google Shape;365;p23"/>
            <p:cNvSpPr txBox="1"/>
            <p:nvPr/>
          </p:nvSpPr>
          <p:spPr>
            <a:xfrm>
              <a:off x="4000500" y="628650"/>
              <a:ext cx="438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4.77 LKR</a:t>
              </a:r>
              <a:r>
                <a:rPr b="0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(Maps, SMS, Push)</a:t>
              </a:r>
              <a:endParaRPr b="0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6" name="Google Shape;366;p23"/>
            <p:cNvSpPr/>
            <p:nvPr/>
          </p:nvSpPr>
          <p:spPr>
            <a:xfrm>
              <a:off x="0" y="990600"/>
              <a:ext cx="8382000" cy="192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3"/>
            <p:cNvSpPr txBox="1"/>
            <p:nvPr/>
          </p:nvSpPr>
          <p:spPr>
            <a:xfrm>
              <a:off x="0" y="112395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Total Spend Per Completed Ride</a:t>
              </a:r>
              <a:endParaRPr b="0" sz="10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8" name="Google Shape;368;p23"/>
            <p:cNvSpPr txBox="1"/>
            <p:nvPr/>
          </p:nvSpPr>
          <p:spPr>
            <a:xfrm>
              <a:off x="4000500" y="112395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5.89 LKR</a:t>
              </a:r>
              <a:endParaRPr b="1" sz="18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0" y="1600200"/>
              <a:ext cx="83820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" name="Google Shape;370;p23"/>
          <p:cNvGrpSpPr/>
          <p:nvPr/>
        </p:nvGrpSpPr>
        <p:grpSpPr>
          <a:xfrm>
            <a:off x="381000" y="3000375"/>
            <a:ext cx="8382000" cy="1571700"/>
            <a:chOff x="0" y="0"/>
            <a:chExt cx="8382000" cy="1571700"/>
          </a:xfrm>
        </p:grpSpPr>
        <p:sp>
          <p:nvSpPr>
            <p:cNvPr id="371" name="Google Shape;371;p23"/>
            <p:cNvSpPr/>
            <p:nvPr/>
          </p:nvSpPr>
          <p:spPr>
            <a:xfrm>
              <a:off x="0" y="0"/>
              <a:ext cx="38100" cy="15717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3"/>
            <p:cNvSpPr/>
            <p:nvPr/>
          </p:nvSpPr>
          <p:spPr>
            <a:xfrm>
              <a:off x="38100" y="0"/>
              <a:ext cx="8343900" cy="15717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3"/>
            <p:cNvSpPr txBox="1"/>
            <p:nvPr/>
          </p:nvSpPr>
          <p:spPr>
            <a:xfrm>
              <a:off x="228600" y="152400"/>
              <a:ext cx="796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0" lang="en-GB" sz="75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BUDGET EFFICIENCY &amp; HEADROOM ANALYSIS</a:t>
              </a:r>
              <a:endParaRPr b="0" sz="75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374" name="Google Shape;374;p23"/>
            <p:cNvGrpSpPr/>
            <p:nvPr/>
          </p:nvGrpSpPr>
          <p:grpSpPr>
            <a:xfrm>
              <a:off x="228600" y="419100"/>
              <a:ext cx="7962900" cy="304800"/>
              <a:chOff x="0" y="-38100"/>
              <a:chExt cx="7962900" cy="304800"/>
            </a:xfrm>
          </p:grpSpPr>
          <p:sp>
            <p:nvSpPr>
              <p:cNvPr id="375" name="Google Shape;375;p23"/>
              <p:cNvSpPr/>
              <p:nvPr/>
            </p:nvSpPr>
            <p:spPr>
              <a:xfrm>
                <a:off x="0" y="0"/>
                <a:ext cx="79629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23"/>
              <p:cNvSpPr/>
              <p:nvPr/>
            </p:nvSpPr>
            <p:spPr>
              <a:xfrm>
                <a:off x="0" y="0"/>
                <a:ext cx="46863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23"/>
              <p:cNvSpPr/>
              <p:nvPr/>
            </p:nvSpPr>
            <p:spPr>
              <a:xfrm>
                <a:off x="0" y="0"/>
                <a:ext cx="895500" cy="228600"/>
              </a:xfrm>
              <a:prstGeom prst="roundRect">
                <a:avLst>
                  <a:gd fmla="val 16666" name="adj"/>
                </a:avLst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23"/>
              <p:cNvSpPr txBox="1"/>
              <p:nvPr/>
            </p:nvSpPr>
            <p:spPr>
              <a:xfrm>
                <a:off x="76200" y="19050"/>
                <a:ext cx="762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1.12 AWS</a:t>
                </a:r>
                <a:endParaRPr b="0" sz="7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379" name="Google Shape;379;p23"/>
              <p:cNvSpPr txBox="1"/>
              <p:nvPr/>
            </p:nvSpPr>
            <p:spPr>
              <a:xfrm>
                <a:off x="971550" y="1905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GB" sz="750">
                    <a:solidFill>
                      <a:srgbClr val="FFFFFF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4.77 APIs</a:t>
                </a:r>
                <a:endParaRPr b="0" sz="75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cxnSp>
            <p:nvCxnSpPr>
              <p:cNvPr id="380" name="Google Shape;380;p23"/>
              <p:cNvCxnSpPr/>
              <p:nvPr/>
            </p:nvCxnSpPr>
            <p:spPr>
              <a:xfrm>
                <a:off x="7962900" y="-38100"/>
                <a:ext cx="0" cy="3048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0F172A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81" name="Google Shape;381;p23"/>
            <p:cNvSpPr txBox="1"/>
            <p:nvPr/>
          </p:nvSpPr>
          <p:spPr>
            <a:xfrm>
              <a:off x="228600" y="819150"/>
              <a:ext cx="796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41% Headroom Remaining</a:t>
              </a:r>
              <a:r>
                <a:rPr b="0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below the </a:t>
              </a:r>
              <a:r>
                <a:rPr b="1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10.00 LKR</a:t>
              </a:r>
              <a:r>
                <a:rPr b="0" lang="en-GB" sz="975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 budget ceiling per ride.</a:t>
              </a:r>
              <a:endParaRPr b="0" sz="975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9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Total spend of 5.89 LKR provides substantial operational margin, driven by aggressive spot compute optimization, Graviton architecture, and efficient S3 storage tiering.</a:t>
              </a:r>
              <a:endParaRPr b="0" sz="9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24"/>
          <p:cNvGrpSpPr/>
          <p:nvPr/>
        </p:nvGrpSpPr>
        <p:grpSpPr>
          <a:xfrm>
            <a:off x="4191000" y="1047750"/>
            <a:ext cx="762000" cy="762000"/>
            <a:chOff x="0" y="0"/>
            <a:chExt cx="762000" cy="762000"/>
          </a:xfrm>
        </p:grpSpPr>
        <p:sp>
          <p:nvSpPr>
            <p:cNvPr id="388" name="Google Shape;388;p24"/>
            <p:cNvSpPr/>
            <p:nvPr/>
          </p:nvSpPr>
          <p:spPr>
            <a:xfrm>
              <a:off x="0" y="0"/>
              <a:ext cx="762000" cy="762000"/>
            </a:xfrm>
            <a:prstGeom prst="roundRect">
              <a:avLst>
                <a:gd fmla="val 25000" name="adj"/>
              </a:avLst>
            </a:prstGeom>
            <a:solidFill>
              <a:srgbClr val="F8FAFC"/>
            </a:solidFill>
            <a:ln cap="flat" cmpd="sng" w="1905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9" name="Google Shape;389;p24"/>
            <p:cNvGrpSpPr/>
            <p:nvPr/>
          </p:nvGrpSpPr>
          <p:grpSpPr>
            <a:xfrm>
              <a:off x="228600" y="228600"/>
              <a:ext cx="457200" cy="457200"/>
              <a:chOff x="0" y="0"/>
              <a:chExt cx="457200" cy="457200"/>
            </a:xfrm>
          </p:grpSpPr>
          <p:sp>
            <p:nvSpPr>
              <p:cNvPr id="390" name="Google Shape;390;p24"/>
              <p:cNvSpPr/>
              <p:nvPr/>
            </p:nvSpPr>
            <p:spPr>
              <a:xfrm>
                <a:off x="0" y="0"/>
                <a:ext cx="304800" cy="304800"/>
              </a:xfrm>
              <a:prstGeom prst="roundRect">
                <a:avLst>
                  <a:gd fmla="val 25000" name="adj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24"/>
              <p:cNvSpPr/>
              <p:nvPr/>
            </p:nvSpPr>
            <p:spPr>
              <a:xfrm>
                <a:off x="152400" y="152400"/>
                <a:ext cx="304800" cy="3048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2" name="Google Shape;392;p24"/>
          <p:cNvSpPr txBox="1"/>
          <p:nvPr/>
        </p:nvSpPr>
        <p:spPr>
          <a:xfrm>
            <a:off x="762000" y="2047875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 b="1" sz="3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3" name="Google Shape;393;p24"/>
          <p:cNvCxnSpPr/>
          <p:nvPr/>
        </p:nvCxnSpPr>
        <p:spPr>
          <a:xfrm>
            <a:off x="3934400" y="2915475"/>
            <a:ext cx="1143000" cy="0"/>
          </a:xfrm>
          <a:prstGeom prst="straightConnector1">
            <a:avLst/>
          </a:prstGeom>
          <a:solidFill>
            <a:srgbClr val="FFFFFF"/>
          </a:solidFill>
          <a:ln cap="rnd" cmpd="sng" w="28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24"/>
          <p:cNvSpPr txBox="1"/>
          <p:nvPr/>
        </p:nvSpPr>
        <p:spPr>
          <a:xfrm>
            <a:off x="762000" y="3190875"/>
            <a:ext cx="7620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2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Q &amp; A</a:t>
            </a:r>
            <a:endParaRPr b="1" i="0" sz="2200">
              <a:solidFill>
                <a:srgbClr val="2563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GB" sz="13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Feel free to ask any questions</a:t>
            </a:r>
            <a:endParaRPr b="0" i="0" sz="13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